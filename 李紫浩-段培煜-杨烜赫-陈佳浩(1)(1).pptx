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notesSlides/notesSlide1.xml" ContentType="application/vnd.openxmlformats-officedocument.presentationml.notesSlide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notesSlides/notesSlide2.xml" ContentType="application/vnd.openxmlformats-officedocument.presentationml.notesSlide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</p:sldMasterIdLst>
  <p:notesMasterIdLst>
    <p:notesMasterId r:id="rId38"/>
  </p:notesMasterIdLst>
  <p:handoutMasterIdLst>
    <p:handoutMasterId r:id="rId39"/>
  </p:handoutMasterIdLst>
  <p:sldIdLst>
    <p:sldId id="294" r:id="rId4"/>
    <p:sldId id="296" r:id="rId5"/>
    <p:sldId id="259" r:id="rId6"/>
    <p:sldId id="284" r:id="rId7"/>
    <p:sldId id="346" r:id="rId8"/>
    <p:sldId id="347" r:id="rId9"/>
    <p:sldId id="348" r:id="rId10"/>
    <p:sldId id="349" r:id="rId11"/>
    <p:sldId id="306" r:id="rId12"/>
    <p:sldId id="293" r:id="rId13"/>
    <p:sldId id="321" r:id="rId14"/>
    <p:sldId id="309" r:id="rId15"/>
    <p:sldId id="322" r:id="rId16"/>
    <p:sldId id="285" r:id="rId17"/>
    <p:sldId id="328" r:id="rId18"/>
    <p:sldId id="290" r:id="rId19"/>
    <p:sldId id="312" r:id="rId20"/>
    <p:sldId id="297" r:id="rId21"/>
    <p:sldId id="302" r:id="rId22"/>
    <p:sldId id="311" r:id="rId23"/>
    <p:sldId id="303" r:id="rId24"/>
    <p:sldId id="323" r:id="rId25"/>
    <p:sldId id="313" r:id="rId26"/>
    <p:sldId id="314" r:id="rId27"/>
    <p:sldId id="315" r:id="rId28"/>
    <p:sldId id="324" r:id="rId29"/>
    <p:sldId id="325" r:id="rId30"/>
    <p:sldId id="316" r:id="rId31"/>
    <p:sldId id="329" r:id="rId32"/>
    <p:sldId id="330" r:id="rId33"/>
    <p:sldId id="332" r:id="rId34"/>
    <p:sldId id="333" r:id="rId35"/>
    <p:sldId id="334" r:id="rId36"/>
    <p:sldId id="345" r:id="rId37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30" y="451"/>
      </p:cViewPr>
      <p:guideLst>
        <p:guide orient="horz" pos="205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1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6" Type="http://schemas.openxmlformats.org/officeDocument/2006/relationships/image" Target="../media/image4.sv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image" Target="../media/image3.pn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7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6.svg"/><Relationship Id="rId5" Type="http://schemas.openxmlformats.org/officeDocument/2006/relationships/tags" Target="../tags/tag32.xml"/><Relationship Id="rId10" Type="http://schemas.openxmlformats.org/officeDocument/2006/relationships/image" Target="../media/image5.png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0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image" Target="../media/image7.svg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70.xml"/><Relationship Id="rId15" Type="http://schemas.openxmlformats.org/officeDocument/2006/relationships/image" Target="../media/image8.svg"/><Relationship Id="rId10" Type="http://schemas.openxmlformats.org/officeDocument/2006/relationships/tags" Target="../tags/tag75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image" Target="../media/image1.pn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84.xml"/><Relationship Id="rId16" Type="http://schemas.openxmlformats.org/officeDocument/2006/relationships/image" Target="../media/image4.svg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image" Target="../media/image3.png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image" Target="../media/image2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image" Target="../media/image6.svg"/><Relationship Id="rId5" Type="http://schemas.openxmlformats.org/officeDocument/2006/relationships/tags" Target="../tags/tag107.xml"/><Relationship Id="rId10" Type="http://schemas.openxmlformats.org/officeDocument/2006/relationships/image" Target="../media/image5.png"/><Relationship Id="rId4" Type="http://schemas.openxmlformats.org/officeDocument/2006/relationships/tags" Target="../tags/tag106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9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2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3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0.xml"/><Relationship Id="rId4" Type="http://schemas.openxmlformats.org/officeDocument/2006/relationships/tags" Target="../tags/tag139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48.xml"/><Relationship Id="rId13" Type="http://schemas.openxmlformats.org/officeDocument/2006/relationships/image" Target="../media/image7.svg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12" Type="http://schemas.openxmlformats.org/officeDocument/2006/relationships/image" Target="../media/image1.png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45.xml"/><Relationship Id="rId15" Type="http://schemas.openxmlformats.org/officeDocument/2006/relationships/image" Target="../media/image8.svg"/><Relationship Id="rId10" Type="http://schemas.openxmlformats.org/officeDocument/2006/relationships/tags" Target="../tags/tag150.xml"/><Relationship Id="rId4" Type="http://schemas.openxmlformats.org/officeDocument/2006/relationships/tags" Target="../tags/tag144.xml"/><Relationship Id="rId9" Type="http://schemas.openxmlformats.org/officeDocument/2006/relationships/tags" Target="../tags/tag149.xml"/><Relationship Id="rId1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13" Type="http://schemas.openxmlformats.org/officeDocument/2006/relationships/image" Target="../media/image1.png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159.xml"/><Relationship Id="rId16" Type="http://schemas.openxmlformats.org/officeDocument/2006/relationships/image" Target="../media/image4.svg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tags" Target="../tags/tag168.xml"/><Relationship Id="rId5" Type="http://schemas.openxmlformats.org/officeDocument/2006/relationships/tags" Target="../tags/tag162.xml"/><Relationship Id="rId15" Type="http://schemas.openxmlformats.org/officeDocument/2006/relationships/image" Target="../media/image3.png"/><Relationship Id="rId10" Type="http://schemas.openxmlformats.org/officeDocument/2006/relationships/tags" Target="../tags/tag167.xml"/><Relationship Id="rId4" Type="http://schemas.openxmlformats.org/officeDocument/2006/relationships/tags" Target="../tags/tag161.xml"/><Relationship Id="rId9" Type="http://schemas.openxmlformats.org/officeDocument/2006/relationships/tags" Target="../tags/tag166.xml"/><Relationship Id="rId14" Type="http://schemas.openxmlformats.org/officeDocument/2006/relationships/image" Target="../media/image2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73.xml"/><Relationship Id="rId4" Type="http://schemas.openxmlformats.org/officeDocument/2006/relationships/tags" Target="../tags/tag17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77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image" Target="../media/image6.svg"/><Relationship Id="rId5" Type="http://schemas.openxmlformats.org/officeDocument/2006/relationships/tags" Target="../tags/tag182.xml"/><Relationship Id="rId10" Type="http://schemas.openxmlformats.org/officeDocument/2006/relationships/image" Target="../media/image5.png"/><Relationship Id="rId4" Type="http://schemas.openxmlformats.org/officeDocument/2006/relationships/tags" Target="../tags/tag181.xml"/><Relationship Id="rId9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9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tags" Target="../tags/tag200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20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4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210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15.xml"/><Relationship Id="rId4" Type="http://schemas.openxmlformats.org/officeDocument/2006/relationships/tags" Target="../tags/tag214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13" Type="http://schemas.openxmlformats.org/officeDocument/2006/relationships/image" Target="../media/image7.svg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12" Type="http://schemas.openxmlformats.org/officeDocument/2006/relationships/image" Target="../media/image1.png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220.xml"/><Relationship Id="rId15" Type="http://schemas.openxmlformats.org/officeDocument/2006/relationships/image" Target="../media/image8.svg"/><Relationship Id="rId10" Type="http://schemas.openxmlformats.org/officeDocument/2006/relationships/tags" Target="../tags/tag225.xml"/><Relationship Id="rId4" Type="http://schemas.openxmlformats.org/officeDocument/2006/relationships/tags" Target="../tags/tag219.xml"/><Relationship Id="rId9" Type="http://schemas.openxmlformats.org/officeDocument/2006/relationships/tags" Target="../tags/tag224.xml"/><Relationship Id="rId1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37"/>
          <p:cNvSpPr/>
          <p:nvPr>
            <p:custDataLst>
              <p:tags r:id="rId1"/>
            </p:custDataLst>
          </p:nvPr>
        </p:nvSpPr>
        <p:spPr>
          <a:xfrm flipH="1" flipV="1">
            <a:off x="0" y="-4767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47000">
                <a:schemeClr val="accent1">
                  <a:lumMod val="20000"/>
                  <a:lumOff val="80000"/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6" name="椭圆 15"/>
          <p:cNvSpPr/>
          <p:nvPr>
            <p:custDataLst>
              <p:tags r:id="rId2"/>
            </p:custDataLst>
          </p:nvPr>
        </p:nvSpPr>
        <p:spPr>
          <a:xfrm>
            <a:off x="9721215" y="1270"/>
            <a:ext cx="2416810" cy="215963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20622537">
            <a:off x="2338705" y="2000885"/>
            <a:ext cx="7515225" cy="203962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pic>
        <p:nvPicPr>
          <p:cNvPr id="10" name="图形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700000">
            <a:off x="7799705" y="1013460"/>
            <a:ext cx="1157605" cy="1157605"/>
          </a:xfrm>
          <a:prstGeom prst="rect">
            <a:avLst/>
          </a:prstGeom>
        </p:spPr>
      </p:pic>
      <p:sp>
        <p:nvSpPr>
          <p:cNvPr id="9" name="标题" descr="7b0a20202020227461726765744d6f64756c65223a202270726f636573734f6e6c696e65466f6e7473220a7d0a"/>
          <p:cNvSpPr txBox="1">
            <a:spLocks noGrp="1"/>
          </p:cNvSpPr>
          <p:nvPr>
            <p:ph type="title" idx="5" hasCustomPrompt="1"/>
            <p:custDataLst>
              <p:tags r:id="rId5"/>
            </p:custDataLst>
          </p:nvPr>
        </p:nvSpPr>
        <p:spPr>
          <a:xfrm>
            <a:off x="1551940" y="1732280"/>
            <a:ext cx="9091295" cy="218249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pic>
        <p:nvPicPr>
          <p:cNvPr id="19" name="图形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0212943" y="5334181"/>
            <a:ext cx="1427948" cy="1427948"/>
          </a:xfrm>
          <a:prstGeom prst="rect">
            <a:avLst/>
          </a:prstGeom>
        </p:spPr>
      </p:pic>
      <p:sp>
        <p:nvSpPr>
          <p:cNvPr id="8" name="副标题" descr="7b0a20202020227461726765744d6f64756c65223a202270726f636573734f6e6c696e65466f6e7473220a7d0a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518160" y="5792470"/>
            <a:ext cx="2536825" cy="69977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7" name="副标题" descr="7b0a20202020227461726765744d6f64756c65223a202270726f636573734f6e6c696e65466f6e7473220a7d0a"/>
          <p:cNvSpPr txBox="1"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1551940" y="3914775"/>
            <a:ext cx="8883015" cy="7747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1600" b="0" i="0" u="none" strike="noStrike" kern="1200" cap="none" spc="500" normalizeH="0" baseline="0" noProof="1" dirty="0">
                <a:ln>
                  <a:noFill/>
                </a:ln>
                <a:solidFill>
                  <a:schemeClr val="accent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 descr="7b0a20202020227461726765744d6f64756c65223a202270726f636573734f6e6c696e65466f6e7473220a7d0a"/>
          <p:cNvSpPr txBox="1"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08330" y="1376045"/>
            <a:ext cx="1096899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820489" y="734130"/>
            <a:ext cx="10248193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/>
            <a:r>
              <a:rPr dirty="0" err="1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>
            <p:custDataLst>
              <p:tags r:id="rId1"/>
            </p:custDataLst>
          </p:nvPr>
        </p:nvSpPr>
        <p:spPr>
          <a:xfrm>
            <a:off x="635" y="2720975"/>
            <a:ext cx="4062095" cy="4137025"/>
          </a:xfrm>
          <a:prstGeom prst="ellipse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>
                  <a:alpha val="0"/>
                </a:schemeClr>
              </a:solidFill>
              <a:cs typeface="MiSans Normal" charset="-122"/>
            </a:endParaRPr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9669780" y="635"/>
            <a:ext cx="2522855" cy="234886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3" hasCustomPrompt="1"/>
            <p:custDataLst>
              <p:tags r:id="rId3"/>
            </p:custDataLst>
          </p:nvPr>
        </p:nvSpPr>
        <p:spPr>
          <a:xfrm>
            <a:off x="2014220" y="2289811"/>
            <a:ext cx="2496820" cy="2117724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600" b="0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4511040" y="2289810"/>
            <a:ext cx="3531235" cy="21170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单击编辑标题</a:t>
            </a:r>
          </a:p>
        </p:txBody>
      </p:sp>
      <p:pic>
        <p:nvPicPr>
          <p:cNvPr id="13" name="图形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05136" y="3207049"/>
            <a:ext cx="2155313" cy="352463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"/>
          <p:cNvSpPr txBox="1">
            <a:spLocks noGrp="1"/>
          </p:cNvSpPr>
          <p:nvPr>
            <p:ph idx="5"/>
            <p:custDataLst>
              <p:tags r:id="rId1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2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2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 descr="7b0a20202020227461726765744d6f64756c65223a202270726f636573734f6e6c696e65466f6e7473220a7d0a"/>
          <p:cNvSpPr txBox="1"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 Normal" charset="-122"/>
                <a:ea typeface="MiSans Normal" charset="-122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 userDrawn="1">
            <p:custDataLst>
              <p:tags r:id="rId1"/>
            </p:custDataLst>
          </p:nvPr>
        </p:nvSpPr>
        <p:spPr>
          <a:xfrm>
            <a:off x="9721215" y="1270"/>
            <a:ext cx="2470785" cy="215963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7"/>
          <p:cNvSpPr/>
          <p:nvPr userDrawn="1">
            <p:custDataLst>
              <p:tags r:id="rId2"/>
            </p:custDataLst>
          </p:nvPr>
        </p:nvSpPr>
        <p:spPr>
          <a:xfrm flipH="1" flipV="1">
            <a:off x="0" y="1905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47000">
                <a:schemeClr val="accent1">
                  <a:lumMod val="20000"/>
                  <a:lumOff val="80000"/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>
            <p:custDataLst>
              <p:tags r:id="rId3"/>
            </p:custDataLst>
          </p:nvPr>
        </p:nvSpPr>
        <p:spPr>
          <a:xfrm rot="20622537">
            <a:off x="2338705" y="2000885"/>
            <a:ext cx="7515225" cy="203962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1525270" y="1951355"/>
            <a:ext cx="9239250" cy="214630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8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7" name="副标题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518160" y="5717540"/>
            <a:ext cx="2536825" cy="81280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形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00000">
            <a:off x="7799705" y="1013460"/>
            <a:ext cx="1157605" cy="1157605"/>
          </a:xfrm>
          <a:prstGeom prst="rect">
            <a:avLst/>
          </a:prstGeom>
        </p:spPr>
      </p:pic>
      <p:pic>
        <p:nvPicPr>
          <p:cNvPr id="3" name="图形 16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10212943" y="5334181"/>
            <a:ext cx="1427948" cy="14279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984" y="-1058"/>
            <a:ext cx="12234984" cy="6858423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59363" y="365883"/>
            <a:ext cx="11473275" cy="61266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37"/>
          <p:cNvSpPr/>
          <p:nvPr>
            <p:custDataLst>
              <p:tags r:id="rId1"/>
            </p:custDataLst>
          </p:nvPr>
        </p:nvSpPr>
        <p:spPr>
          <a:xfrm flipH="1" flipV="1">
            <a:off x="0" y="-4767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47000">
                <a:schemeClr val="accent1">
                  <a:lumMod val="20000"/>
                  <a:lumOff val="80000"/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6" name="椭圆 15"/>
          <p:cNvSpPr/>
          <p:nvPr>
            <p:custDataLst>
              <p:tags r:id="rId2"/>
            </p:custDataLst>
          </p:nvPr>
        </p:nvSpPr>
        <p:spPr>
          <a:xfrm>
            <a:off x="9721215" y="1270"/>
            <a:ext cx="2416810" cy="215963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20622537">
            <a:off x="2338705" y="2000885"/>
            <a:ext cx="7515225" cy="203962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pic>
        <p:nvPicPr>
          <p:cNvPr id="10" name="图形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700000">
            <a:off x="7799705" y="1013460"/>
            <a:ext cx="1157605" cy="1157605"/>
          </a:xfrm>
          <a:prstGeom prst="rect">
            <a:avLst/>
          </a:prstGeom>
        </p:spPr>
      </p:pic>
      <p:sp>
        <p:nvSpPr>
          <p:cNvPr id="9" name="标题" descr="7b0a20202020227461726765744d6f64756c65223a202270726f636573734f6e6c696e65466f6e7473220a7d0a"/>
          <p:cNvSpPr txBox="1">
            <a:spLocks noGrp="1"/>
          </p:cNvSpPr>
          <p:nvPr>
            <p:ph type="title" idx="5" hasCustomPrompt="1"/>
            <p:custDataLst>
              <p:tags r:id="rId5"/>
            </p:custDataLst>
          </p:nvPr>
        </p:nvSpPr>
        <p:spPr>
          <a:xfrm>
            <a:off x="1551940" y="1732280"/>
            <a:ext cx="9091295" cy="218249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pic>
        <p:nvPicPr>
          <p:cNvPr id="19" name="图形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0212943" y="5334181"/>
            <a:ext cx="1427948" cy="1427948"/>
          </a:xfrm>
          <a:prstGeom prst="rect">
            <a:avLst/>
          </a:prstGeom>
        </p:spPr>
      </p:pic>
      <p:sp>
        <p:nvSpPr>
          <p:cNvPr id="8" name="副标题" descr="7b0a20202020227461726765744d6f64756c65223a202270726f636573734f6e6c696e65466f6e7473220a7d0a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518160" y="5792470"/>
            <a:ext cx="2536825" cy="69977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7" name="副标题" descr="7b0a20202020227461726765744d6f64756c65223a202270726f636573734f6e6c696e65466f6e7473220a7d0a"/>
          <p:cNvSpPr txBox="1"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1551940" y="3914775"/>
            <a:ext cx="8883015" cy="7747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1600" b="0" i="0" u="none" strike="noStrike" kern="1200" cap="none" spc="500" normalizeH="0" baseline="0" noProof="1" dirty="0">
                <a:ln>
                  <a:noFill/>
                </a:ln>
                <a:solidFill>
                  <a:schemeClr val="accent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 descr="7b0a20202020227461726765744d6f64756c65223a202270726f636573734f6e6c696e65466f6e7473220a7d0a"/>
          <p:cNvSpPr txBox="1"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08330" y="1376045"/>
            <a:ext cx="1096899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820489" y="734130"/>
            <a:ext cx="10248193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/>
            <a:r>
              <a:rPr dirty="0" err="1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>
            <p:custDataLst>
              <p:tags r:id="rId1"/>
            </p:custDataLst>
          </p:nvPr>
        </p:nvSpPr>
        <p:spPr>
          <a:xfrm>
            <a:off x="635" y="2720975"/>
            <a:ext cx="4062095" cy="4137025"/>
          </a:xfrm>
          <a:prstGeom prst="ellipse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>
                  <a:alpha val="0"/>
                </a:schemeClr>
              </a:solidFill>
              <a:cs typeface="MiSans Normal" charset="-122"/>
            </a:endParaRPr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9669780" y="635"/>
            <a:ext cx="2522855" cy="234886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3" hasCustomPrompt="1"/>
            <p:custDataLst>
              <p:tags r:id="rId3"/>
            </p:custDataLst>
          </p:nvPr>
        </p:nvSpPr>
        <p:spPr>
          <a:xfrm>
            <a:off x="2014220" y="2289811"/>
            <a:ext cx="2496820" cy="2117724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600" b="0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4511040" y="2289810"/>
            <a:ext cx="3531235" cy="21170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单击编辑标题</a:t>
            </a:r>
          </a:p>
        </p:txBody>
      </p:sp>
      <p:pic>
        <p:nvPicPr>
          <p:cNvPr id="13" name="图形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05136" y="3207049"/>
            <a:ext cx="2155313" cy="352463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"/>
          <p:cNvSpPr txBox="1">
            <a:spLocks noGrp="1"/>
          </p:cNvSpPr>
          <p:nvPr>
            <p:ph idx="5"/>
            <p:custDataLst>
              <p:tags r:id="rId1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2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2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 descr="7b0a20202020227461726765744d6f64756c65223a202270726f636573734f6e6c696e65466f6e7473220a7d0a"/>
          <p:cNvSpPr txBox="1"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 Normal" charset="-122"/>
                <a:ea typeface="MiSans Normal" charset="-122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 userDrawn="1">
            <p:custDataLst>
              <p:tags r:id="rId1"/>
            </p:custDataLst>
          </p:nvPr>
        </p:nvSpPr>
        <p:spPr>
          <a:xfrm>
            <a:off x="9721215" y="1270"/>
            <a:ext cx="2470785" cy="215963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7"/>
          <p:cNvSpPr/>
          <p:nvPr userDrawn="1">
            <p:custDataLst>
              <p:tags r:id="rId2"/>
            </p:custDataLst>
          </p:nvPr>
        </p:nvSpPr>
        <p:spPr>
          <a:xfrm flipH="1" flipV="1">
            <a:off x="0" y="1905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47000">
                <a:schemeClr val="accent1">
                  <a:lumMod val="20000"/>
                  <a:lumOff val="80000"/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>
            <p:custDataLst>
              <p:tags r:id="rId3"/>
            </p:custDataLst>
          </p:nvPr>
        </p:nvSpPr>
        <p:spPr>
          <a:xfrm rot="20622537">
            <a:off x="2338705" y="2000885"/>
            <a:ext cx="7515225" cy="203962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1525270" y="1951355"/>
            <a:ext cx="9239250" cy="214630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8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7" name="副标题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518160" y="5717540"/>
            <a:ext cx="2536825" cy="81280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形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00000">
            <a:off x="7799705" y="1013460"/>
            <a:ext cx="1157605" cy="1157605"/>
          </a:xfrm>
          <a:prstGeom prst="rect">
            <a:avLst/>
          </a:prstGeom>
        </p:spPr>
      </p:pic>
      <p:pic>
        <p:nvPicPr>
          <p:cNvPr id="3" name="图形 16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10212943" y="5334181"/>
            <a:ext cx="1427948" cy="14279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37"/>
          <p:cNvSpPr/>
          <p:nvPr>
            <p:custDataLst>
              <p:tags r:id="rId1"/>
            </p:custDataLst>
          </p:nvPr>
        </p:nvSpPr>
        <p:spPr>
          <a:xfrm flipH="1" flipV="1">
            <a:off x="0" y="-4767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47000">
                <a:schemeClr val="accent1">
                  <a:lumMod val="20000"/>
                  <a:lumOff val="80000"/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6" name="椭圆 15"/>
          <p:cNvSpPr/>
          <p:nvPr>
            <p:custDataLst>
              <p:tags r:id="rId2"/>
            </p:custDataLst>
          </p:nvPr>
        </p:nvSpPr>
        <p:spPr>
          <a:xfrm>
            <a:off x="9721215" y="1270"/>
            <a:ext cx="2416810" cy="215963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 rot="20622537">
            <a:off x="2338705" y="2000885"/>
            <a:ext cx="7515225" cy="203962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pic>
        <p:nvPicPr>
          <p:cNvPr id="10" name="图形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700000">
            <a:off x="7799705" y="1013460"/>
            <a:ext cx="1157605" cy="1157605"/>
          </a:xfrm>
          <a:prstGeom prst="rect">
            <a:avLst/>
          </a:prstGeom>
        </p:spPr>
      </p:pic>
      <p:sp>
        <p:nvSpPr>
          <p:cNvPr id="9" name="标题" descr="7b0a20202020227461726765744d6f64756c65223a202270726f636573734f6e6c696e65466f6e7473220a7d0a"/>
          <p:cNvSpPr txBox="1">
            <a:spLocks noGrp="1"/>
          </p:cNvSpPr>
          <p:nvPr>
            <p:ph type="title" idx="5" hasCustomPrompt="1"/>
            <p:custDataLst>
              <p:tags r:id="rId5"/>
            </p:custDataLst>
          </p:nvPr>
        </p:nvSpPr>
        <p:spPr>
          <a:xfrm>
            <a:off x="1551940" y="1732280"/>
            <a:ext cx="9091295" cy="218249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pic>
        <p:nvPicPr>
          <p:cNvPr id="19" name="图形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10212943" y="5334181"/>
            <a:ext cx="1427948" cy="1427948"/>
          </a:xfrm>
          <a:prstGeom prst="rect">
            <a:avLst/>
          </a:prstGeom>
        </p:spPr>
      </p:pic>
      <p:sp>
        <p:nvSpPr>
          <p:cNvPr id="8" name="副标题" descr="7b0a20202020227461726765744d6f64756c65223a202270726f636573734f6e6c696e65466f6e7473220a7d0a"/>
          <p:cNvSpPr txBox="1"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518160" y="5792470"/>
            <a:ext cx="2536825" cy="69977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7" name="副标题" descr="7b0a20202020227461726765744d6f64756c65223a202270726f636573734f6e6c696e65466f6e7473220a7d0a"/>
          <p:cNvSpPr txBox="1"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1551940" y="3914775"/>
            <a:ext cx="8883015" cy="7747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1600" b="0" i="0" u="none" strike="noStrike" kern="1200" cap="none" spc="500" normalizeH="0" baseline="0" noProof="1" dirty="0">
                <a:ln>
                  <a:noFill/>
                </a:ln>
                <a:solidFill>
                  <a:schemeClr val="accent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 descr="7b0a20202020227461726765744d6f64756c65223a202270726f636573734f6e6c696e65466f6e7473220a7d0a"/>
          <p:cNvSpPr txBox="1"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08330" y="1376045"/>
            <a:ext cx="1096899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820489" y="734130"/>
            <a:ext cx="10248193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/>
            <a:r>
              <a:rPr dirty="0" err="1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>
            <p:custDataLst>
              <p:tags r:id="rId1"/>
            </p:custDataLst>
          </p:nvPr>
        </p:nvSpPr>
        <p:spPr>
          <a:xfrm>
            <a:off x="635" y="2720975"/>
            <a:ext cx="4062095" cy="4137025"/>
          </a:xfrm>
          <a:prstGeom prst="ellipse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>
                  <a:alpha val="0"/>
                </a:schemeClr>
              </a:solidFill>
              <a:cs typeface="MiSans Normal" charset="-122"/>
            </a:endParaRPr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9669780" y="635"/>
            <a:ext cx="2522855" cy="234886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3" hasCustomPrompt="1"/>
            <p:custDataLst>
              <p:tags r:id="rId3"/>
            </p:custDataLst>
          </p:nvPr>
        </p:nvSpPr>
        <p:spPr>
          <a:xfrm>
            <a:off x="2014220" y="2289811"/>
            <a:ext cx="2496820" cy="2117724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600" b="0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4511040" y="2289810"/>
            <a:ext cx="3531235" cy="21170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单击编辑标题</a:t>
            </a:r>
          </a:p>
        </p:txBody>
      </p:sp>
      <p:pic>
        <p:nvPicPr>
          <p:cNvPr id="13" name="图形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05136" y="3207049"/>
            <a:ext cx="2155313" cy="352463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/>
            <p:custDataLst>
              <p:tags r:id="rId1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"/>
          <p:cNvSpPr txBox="1">
            <a:spLocks noGrp="1"/>
          </p:cNvSpPr>
          <p:nvPr>
            <p:ph idx="5"/>
            <p:custDataLst>
              <p:tags r:id="rId1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2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2" name="正文"/>
          <p:cNvSpPr txBox="1">
            <a:spLocks noGrp="1"/>
          </p:cNvSpPr>
          <p:nvPr>
            <p:ph idx="3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 descr="7b0a20202020227461726765744d6f64756c65223a202270726f636573734f6e6c696e65466f6e7473220a7d0a"/>
          <p:cNvSpPr txBox="1"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 Normal" charset="-122"/>
                <a:ea typeface="MiSans Normal" charset="-122"/>
                <a:cs typeface="MiSans Normal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第二级</a:t>
            </a: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第三级</a:t>
            </a: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第四级</a:t>
            </a: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lang="zh-CN" altLang="en-US"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 userDrawn="1">
            <p:custDataLst>
              <p:tags r:id="rId1"/>
            </p:custDataLst>
          </p:nvPr>
        </p:nvSpPr>
        <p:spPr>
          <a:xfrm>
            <a:off x="9721215" y="1270"/>
            <a:ext cx="2470785" cy="215963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7"/>
          <p:cNvSpPr/>
          <p:nvPr userDrawn="1">
            <p:custDataLst>
              <p:tags r:id="rId2"/>
            </p:custDataLst>
          </p:nvPr>
        </p:nvSpPr>
        <p:spPr>
          <a:xfrm flipH="1" flipV="1">
            <a:off x="0" y="1905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47000">
                <a:schemeClr val="accent1">
                  <a:lumMod val="20000"/>
                  <a:lumOff val="80000"/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>
            <p:custDataLst>
              <p:tags r:id="rId3"/>
            </p:custDataLst>
          </p:nvPr>
        </p:nvSpPr>
        <p:spPr>
          <a:xfrm rot="20622537">
            <a:off x="2338705" y="2000885"/>
            <a:ext cx="7515225" cy="203962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charset="-122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1525270" y="1951355"/>
            <a:ext cx="9239250" cy="214630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8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7" name="副标题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518160" y="5717540"/>
            <a:ext cx="2536825" cy="81280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形 1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700000">
            <a:off x="7799705" y="1013460"/>
            <a:ext cx="1157605" cy="1157605"/>
          </a:xfrm>
          <a:prstGeom prst="rect">
            <a:avLst/>
          </a:prstGeom>
        </p:spPr>
      </p:pic>
      <p:pic>
        <p:nvPicPr>
          <p:cNvPr id="3" name="图形 16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10212943" y="5334181"/>
            <a:ext cx="1427948" cy="14279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2984" y="-1058"/>
            <a:ext cx="12234984" cy="6858423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59363" y="365883"/>
            <a:ext cx="11473275" cy="61266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tags" Target="../tags/tag7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17" Type="http://schemas.openxmlformats.org/officeDocument/2006/relationships/tags" Target="../tags/tag80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79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78.xml"/><Relationship Id="rId10" Type="http://schemas.openxmlformats.org/officeDocument/2006/relationships/slideLayout" Target="../slideLayouts/slideLayout22.xml"/><Relationship Id="rId19" Type="http://schemas.openxmlformats.org/officeDocument/2006/relationships/tags" Target="../tags/tag8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7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18" Type="http://schemas.openxmlformats.org/officeDocument/2006/relationships/tags" Target="../tags/tag155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tags" Target="../tags/tag154.xml"/><Relationship Id="rId2" Type="http://schemas.openxmlformats.org/officeDocument/2006/relationships/slideLayout" Target="../slideLayouts/slideLayout25.xml"/><Relationship Id="rId16" Type="http://schemas.openxmlformats.org/officeDocument/2006/relationships/tags" Target="../tags/tag153.xml"/><Relationship Id="rId20" Type="http://schemas.openxmlformats.org/officeDocument/2006/relationships/tags" Target="../tags/tag157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tags" Target="../tags/tag152.xml"/><Relationship Id="rId10" Type="http://schemas.openxmlformats.org/officeDocument/2006/relationships/slideLayout" Target="../slideLayouts/slideLayout33.xml"/><Relationship Id="rId19" Type="http://schemas.openxmlformats.org/officeDocument/2006/relationships/tags" Target="../tags/tag15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ags" Target="../tags/tag1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37"/>
          <p:cNvSpPr/>
          <p:nvPr>
            <p:custDataLst>
              <p:tags r:id="rId14"/>
            </p:custDataLst>
          </p:nvPr>
        </p:nvSpPr>
        <p:spPr>
          <a:xfrm flipV="1">
            <a:off x="5674360" y="1905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  <a:alpha val="13000"/>
                </a:schemeClr>
              </a:gs>
              <a:gs pos="47000">
                <a:schemeClr val="accent1"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  <a:buSzTx/>
              <a:buChar char="●"/>
            </a:pPr>
            <a:r>
              <a:rPr lang="zh-CN" altLang="en-US"/>
              <a:t>单击此处编辑母版文本样式</a:t>
            </a:r>
          </a:p>
          <a:p>
            <a:pPr lvl="1">
              <a:buChar char="●"/>
              <a:tabLst>
                <a:tab pos="1609725" algn="l"/>
              </a:tabLst>
            </a:pPr>
            <a:r>
              <a:rPr lang="zh-CN" altLang="en-US"/>
              <a:t>二级</a:t>
            </a:r>
          </a:p>
          <a:p>
            <a:pPr lvl="2">
              <a:buChar char="●"/>
            </a:pPr>
            <a:r>
              <a:rPr lang="zh-CN" altLang="en-US"/>
              <a:t>三级</a:t>
            </a:r>
          </a:p>
          <a:p>
            <a:pPr lvl="3">
              <a:buFont typeface="Wingdings" panose="05000000000000000000" charset="0"/>
              <a:buChar char=""/>
            </a:pPr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MiSans Normal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MiSans Normal" charset="-122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37"/>
          <p:cNvSpPr/>
          <p:nvPr>
            <p:custDataLst>
              <p:tags r:id="rId13"/>
            </p:custDataLst>
          </p:nvPr>
        </p:nvSpPr>
        <p:spPr>
          <a:xfrm flipV="1">
            <a:off x="5674360" y="1905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  <a:alpha val="13000"/>
                </a:schemeClr>
              </a:gs>
              <a:gs pos="47000">
                <a:schemeClr val="accent1"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  <a:buSzTx/>
              <a:buChar char="●"/>
            </a:pPr>
            <a:r>
              <a:rPr lang="zh-CN" altLang="en-US"/>
              <a:t>单击此处编辑母版文本样式</a:t>
            </a:r>
          </a:p>
          <a:p>
            <a:pPr lvl="1">
              <a:buChar char="●"/>
              <a:tabLst>
                <a:tab pos="1609725" algn="l"/>
              </a:tabLst>
            </a:pPr>
            <a:r>
              <a:rPr lang="zh-CN" altLang="en-US"/>
              <a:t>二级</a:t>
            </a:r>
          </a:p>
          <a:p>
            <a:pPr lvl="2">
              <a:buChar char="●"/>
            </a:pPr>
            <a:r>
              <a:rPr lang="zh-CN" altLang="en-US"/>
              <a:t>三级</a:t>
            </a:r>
          </a:p>
          <a:p>
            <a:pPr lvl="3">
              <a:buFont typeface="Wingdings" panose="05000000000000000000" charset="0"/>
              <a:buChar char=""/>
            </a:pPr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MiSans Normal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MiSans Normal" charset="-122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37"/>
          <p:cNvSpPr/>
          <p:nvPr>
            <p:custDataLst>
              <p:tags r:id="rId14"/>
            </p:custDataLst>
          </p:nvPr>
        </p:nvSpPr>
        <p:spPr>
          <a:xfrm flipV="1">
            <a:off x="5674360" y="1905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  <a:alpha val="13000"/>
                </a:schemeClr>
              </a:gs>
              <a:gs pos="47000">
                <a:schemeClr val="accent1"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  <a:t>2025/5/11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  <a:buSzTx/>
              <a:buChar char="●"/>
            </a:pPr>
            <a:r>
              <a:rPr lang="zh-CN" altLang="en-US"/>
              <a:t>单击此处编辑母版文本样式</a:t>
            </a:r>
          </a:p>
          <a:p>
            <a:pPr lvl="1">
              <a:buChar char="●"/>
              <a:tabLst>
                <a:tab pos="1609725" algn="l"/>
              </a:tabLst>
            </a:pPr>
            <a:r>
              <a:rPr lang="zh-CN" altLang="en-US"/>
              <a:t>二级</a:t>
            </a:r>
          </a:p>
          <a:p>
            <a:pPr lvl="2">
              <a:buChar char="●"/>
            </a:pPr>
            <a:r>
              <a:rPr lang="zh-CN" altLang="en-US"/>
              <a:t>三级</a:t>
            </a:r>
          </a:p>
          <a:p>
            <a:pPr lvl="3">
              <a:buFont typeface="Wingdings" panose="05000000000000000000" charset="0"/>
              <a:buChar char=""/>
            </a:pPr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MiSans Normal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MiSans Normal" charset="-122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6" Type="http://schemas.openxmlformats.org/officeDocument/2006/relationships/image" Target="../media/image10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tags" Target="../tags/tag241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231.xml"/><Relationship Id="rId7" Type="http://schemas.openxmlformats.org/officeDocument/2006/relationships/tags" Target="../tags/tag235.xml"/><Relationship Id="rId12" Type="http://schemas.openxmlformats.org/officeDocument/2006/relationships/tags" Target="../tags/tag240.xml"/><Relationship Id="rId17" Type="http://schemas.openxmlformats.org/officeDocument/2006/relationships/tags" Target="../tags/tag245.xml"/><Relationship Id="rId2" Type="http://schemas.openxmlformats.org/officeDocument/2006/relationships/tags" Target="../tags/tag230.xml"/><Relationship Id="rId16" Type="http://schemas.openxmlformats.org/officeDocument/2006/relationships/tags" Target="../tags/tag244.xml"/><Relationship Id="rId20" Type="http://schemas.openxmlformats.org/officeDocument/2006/relationships/image" Target="../media/image10.png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tags" Target="../tags/tag239.xml"/><Relationship Id="rId5" Type="http://schemas.openxmlformats.org/officeDocument/2006/relationships/tags" Target="../tags/tag233.xml"/><Relationship Id="rId15" Type="http://schemas.openxmlformats.org/officeDocument/2006/relationships/tags" Target="../tags/tag243.xml"/><Relationship Id="rId10" Type="http://schemas.openxmlformats.org/officeDocument/2006/relationships/tags" Target="../tags/tag238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232.xml"/><Relationship Id="rId9" Type="http://schemas.openxmlformats.org/officeDocument/2006/relationships/tags" Target="../tags/tag237.xml"/><Relationship Id="rId14" Type="http://schemas.openxmlformats.org/officeDocument/2006/relationships/tags" Target="../tags/tag24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48.xml"/><Relationship Id="rId7" Type="http://schemas.openxmlformats.org/officeDocument/2006/relationships/image" Target="../media/image12.svg"/><Relationship Id="rId2" Type="http://schemas.openxmlformats.org/officeDocument/2006/relationships/tags" Target="../tags/tag247.xml"/><Relationship Id="rId1" Type="http://schemas.openxmlformats.org/officeDocument/2006/relationships/tags" Target="../tags/tag24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7" Type="http://schemas.openxmlformats.org/officeDocument/2006/relationships/image" Target="../media/image10.png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7.xml"/><Relationship Id="rId4" Type="http://schemas.openxmlformats.org/officeDocument/2006/relationships/tags" Target="../tags/tag25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65.xml"/><Relationship Id="rId13" Type="http://schemas.openxmlformats.org/officeDocument/2006/relationships/tags" Target="../tags/tag27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60.xml"/><Relationship Id="rId7" Type="http://schemas.openxmlformats.org/officeDocument/2006/relationships/tags" Target="../tags/tag264.xml"/><Relationship Id="rId12" Type="http://schemas.openxmlformats.org/officeDocument/2006/relationships/tags" Target="../tags/tag269.xml"/><Relationship Id="rId17" Type="http://schemas.openxmlformats.org/officeDocument/2006/relationships/tags" Target="../tags/tag274.xml"/><Relationship Id="rId2" Type="http://schemas.openxmlformats.org/officeDocument/2006/relationships/tags" Target="../tags/tag259.xml"/><Relationship Id="rId16" Type="http://schemas.openxmlformats.org/officeDocument/2006/relationships/tags" Target="../tags/tag273.xml"/><Relationship Id="rId1" Type="http://schemas.openxmlformats.org/officeDocument/2006/relationships/tags" Target="../tags/tag258.xml"/><Relationship Id="rId6" Type="http://schemas.openxmlformats.org/officeDocument/2006/relationships/tags" Target="../tags/tag263.xml"/><Relationship Id="rId11" Type="http://schemas.openxmlformats.org/officeDocument/2006/relationships/tags" Target="../tags/tag268.xml"/><Relationship Id="rId5" Type="http://schemas.openxmlformats.org/officeDocument/2006/relationships/tags" Target="../tags/tag262.xml"/><Relationship Id="rId15" Type="http://schemas.openxmlformats.org/officeDocument/2006/relationships/tags" Target="../tags/tag272.xml"/><Relationship Id="rId10" Type="http://schemas.openxmlformats.org/officeDocument/2006/relationships/tags" Target="../tags/tag267.xml"/><Relationship Id="rId19" Type="http://schemas.openxmlformats.org/officeDocument/2006/relationships/image" Target="../media/image10.png"/><Relationship Id="rId4" Type="http://schemas.openxmlformats.org/officeDocument/2006/relationships/tags" Target="../tags/tag261.xml"/><Relationship Id="rId9" Type="http://schemas.openxmlformats.org/officeDocument/2006/relationships/tags" Target="../tags/tag266.xml"/><Relationship Id="rId14" Type="http://schemas.openxmlformats.org/officeDocument/2006/relationships/tags" Target="../tags/tag27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77.xml"/><Relationship Id="rId7" Type="http://schemas.openxmlformats.org/officeDocument/2006/relationships/image" Target="../media/image12.svg"/><Relationship Id="rId2" Type="http://schemas.openxmlformats.org/officeDocument/2006/relationships/tags" Target="../tags/tag276.xml"/><Relationship Id="rId1" Type="http://schemas.openxmlformats.org/officeDocument/2006/relationships/tags" Target="../tags/tag27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90.xml"/><Relationship Id="rId18" Type="http://schemas.openxmlformats.org/officeDocument/2006/relationships/tags" Target="../tags/tag295.xml"/><Relationship Id="rId26" Type="http://schemas.openxmlformats.org/officeDocument/2006/relationships/tags" Target="../tags/tag303.xml"/><Relationship Id="rId39" Type="http://schemas.openxmlformats.org/officeDocument/2006/relationships/image" Target="../media/image19.png"/><Relationship Id="rId21" Type="http://schemas.openxmlformats.org/officeDocument/2006/relationships/tags" Target="../tags/tag298.xml"/><Relationship Id="rId34" Type="http://schemas.openxmlformats.org/officeDocument/2006/relationships/image" Target="../media/image14.svg"/><Relationship Id="rId42" Type="http://schemas.openxmlformats.org/officeDocument/2006/relationships/image" Target="../media/image22.svg"/><Relationship Id="rId7" Type="http://schemas.openxmlformats.org/officeDocument/2006/relationships/tags" Target="../tags/tag284.xml"/><Relationship Id="rId2" Type="http://schemas.openxmlformats.org/officeDocument/2006/relationships/tags" Target="../tags/tag279.xml"/><Relationship Id="rId16" Type="http://schemas.openxmlformats.org/officeDocument/2006/relationships/tags" Target="../tags/tag293.xml"/><Relationship Id="rId20" Type="http://schemas.openxmlformats.org/officeDocument/2006/relationships/tags" Target="../tags/tag297.xml"/><Relationship Id="rId29" Type="http://schemas.openxmlformats.org/officeDocument/2006/relationships/tags" Target="../tags/tag306.xml"/><Relationship Id="rId41" Type="http://schemas.openxmlformats.org/officeDocument/2006/relationships/image" Target="../media/image21.png"/><Relationship Id="rId1" Type="http://schemas.openxmlformats.org/officeDocument/2006/relationships/tags" Target="../tags/tag278.xml"/><Relationship Id="rId6" Type="http://schemas.openxmlformats.org/officeDocument/2006/relationships/tags" Target="../tags/tag283.xml"/><Relationship Id="rId11" Type="http://schemas.openxmlformats.org/officeDocument/2006/relationships/tags" Target="../tags/tag288.xml"/><Relationship Id="rId24" Type="http://schemas.openxmlformats.org/officeDocument/2006/relationships/tags" Target="../tags/tag301.xml"/><Relationship Id="rId32" Type="http://schemas.openxmlformats.org/officeDocument/2006/relationships/slideLayout" Target="../slideLayouts/slideLayout14.xml"/><Relationship Id="rId37" Type="http://schemas.openxmlformats.org/officeDocument/2006/relationships/image" Target="../media/image17.png"/><Relationship Id="rId40" Type="http://schemas.openxmlformats.org/officeDocument/2006/relationships/image" Target="../media/image20.svg"/><Relationship Id="rId5" Type="http://schemas.openxmlformats.org/officeDocument/2006/relationships/tags" Target="../tags/tag282.xml"/><Relationship Id="rId15" Type="http://schemas.openxmlformats.org/officeDocument/2006/relationships/tags" Target="../tags/tag292.xml"/><Relationship Id="rId23" Type="http://schemas.openxmlformats.org/officeDocument/2006/relationships/tags" Target="../tags/tag300.xml"/><Relationship Id="rId28" Type="http://schemas.openxmlformats.org/officeDocument/2006/relationships/tags" Target="../tags/tag305.xml"/><Relationship Id="rId36" Type="http://schemas.openxmlformats.org/officeDocument/2006/relationships/image" Target="../media/image16.svg"/><Relationship Id="rId10" Type="http://schemas.openxmlformats.org/officeDocument/2006/relationships/tags" Target="../tags/tag287.xml"/><Relationship Id="rId19" Type="http://schemas.openxmlformats.org/officeDocument/2006/relationships/tags" Target="../tags/tag296.xml"/><Relationship Id="rId31" Type="http://schemas.openxmlformats.org/officeDocument/2006/relationships/tags" Target="../tags/tag308.xml"/><Relationship Id="rId44" Type="http://schemas.openxmlformats.org/officeDocument/2006/relationships/image" Target="../media/image12.svg"/><Relationship Id="rId4" Type="http://schemas.openxmlformats.org/officeDocument/2006/relationships/tags" Target="../tags/tag281.xml"/><Relationship Id="rId9" Type="http://schemas.openxmlformats.org/officeDocument/2006/relationships/tags" Target="../tags/tag286.xml"/><Relationship Id="rId14" Type="http://schemas.openxmlformats.org/officeDocument/2006/relationships/tags" Target="../tags/tag291.xml"/><Relationship Id="rId22" Type="http://schemas.openxmlformats.org/officeDocument/2006/relationships/tags" Target="../tags/tag299.xml"/><Relationship Id="rId27" Type="http://schemas.openxmlformats.org/officeDocument/2006/relationships/tags" Target="../tags/tag304.xml"/><Relationship Id="rId30" Type="http://schemas.openxmlformats.org/officeDocument/2006/relationships/tags" Target="../tags/tag307.xml"/><Relationship Id="rId35" Type="http://schemas.openxmlformats.org/officeDocument/2006/relationships/image" Target="../media/image15.png"/><Relationship Id="rId43" Type="http://schemas.openxmlformats.org/officeDocument/2006/relationships/image" Target="../media/image11.png"/><Relationship Id="rId8" Type="http://schemas.openxmlformats.org/officeDocument/2006/relationships/tags" Target="../tags/tag285.xml"/><Relationship Id="rId3" Type="http://schemas.openxmlformats.org/officeDocument/2006/relationships/tags" Target="../tags/tag280.xml"/><Relationship Id="rId12" Type="http://schemas.openxmlformats.org/officeDocument/2006/relationships/tags" Target="../tags/tag289.xml"/><Relationship Id="rId17" Type="http://schemas.openxmlformats.org/officeDocument/2006/relationships/tags" Target="../tags/tag294.xml"/><Relationship Id="rId25" Type="http://schemas.openxmlformats.org/officeDocument/2006/relationships/tags" Target="../tags/tag302.xml"/><Relationship Id="rId33" Type="http://schemas.openxmlformats.org/officeDocument/2006/relationships/image" Target="../media/image13.png"/><Relationship Id="rId38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0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2.xml"/><Relationship Id="rId1" Type="http://schemas.openxmlformats.org/officeDocument/2006/relationships/tags" Target="../tags/tag31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24.xml"/><Relationship Id="rId13" Type="http://schemas.openxmlformats.org/officeDocument/2006/relationships/tags" Target="../tags/tag329.xml"/><Relationship Id="rId18" Type="http://schemas.openxmlformats.org/officeDocument/2006/relationships/tags" Target="../tags/tag334.xml"/><Relationship Id="rId3" Type="http://schemas.openxmlformats.org/officeDocument/2006/relationships/tags" Target="../tags/tag319.xml"/><Relationship Id="rId21" Type="http://schemas.openxmlformats.org/officeDocument/2006/relationships/image" Target="../media/image10.png"/><Relationship Id="rId7" Type="http://schemas.openxmlformats.org/officeDocument/2006/relationships/tags" Target="../tags/tag323.xml"/><Relationship Id="rId12" Type="http://schemas.openxmlformats.org/officeDocument/2006/relationships/tags" Target="../tags/tag328.xml"/><Relationship Id="rId17" Type="http://schemas.openxmlformats.org/officeDocument/2006/relationships/tags" Target="../tags/tag333.xml"/><Relationship Id="rId2" Type="http://schemas.openxmlformats.org/officeDocument/2006/relationships/tags" Target="../tags/tag318.xml"/><Relationship Id="rId16" Type="http://schemas.openxmlformats.org/officeDocument/2006/relationships/tags" Target="../tags/tag332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317.xml"/><Relationship Id="rId6" Type="http://schemas.openxmlformats.org/officeDocument/2006/relationships/tags" Target="../tags/tag322.xml"/><Relationship Id="rId11" Type="http://schemas.openxmlformats.org/officeDocument/2006/relationships/tags" Target="../tags/tag327.xml"/><Relationship Id="rId5" Type="http://schemas.openxmlformats.org/officeDocument/2006/relationships/tags" Target="../tags/tag321.xml"/><Relationship Id="rId15" Type="http://schemas.openxmlformats.org/officeDocument/2006/relationships/tags" Target="../tags/tag331.xml"/><Relationship Id="rId10" Type="http://schemas.openxmlformats.org/officeDocument/2006/relationships/tags" Target="../tags/tag326.xml"/><Relationship Id="rId19" Type="http://schemas.openxmlformats.org/officeDocument/2006/relationships/tags" Target="../tags/tag335.xml"/><Relationship Id="rId4" Type="http://schemas.openxmlformats.org/officeDocument/2006/relationships/tags" Target="../tags/tag320.xml"/><Relationship Id="rId9" Type="http://schemas.openxmlformats.org/officeDocument/2006/relationships/tags" Target="../tags/tag325.xml"/><Relationship Id="rId14" Type="http://schemas.openxmlformats.org/officeDocument/2006/relationships/tags" Target="../tags/tag33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38.xml"/><Relationship Id="rId2" Type="http://schemas.openxmlformats.org/officeDocument/2006/relationships/tags" Target="../tags/tag337.xml"/><Relationship Id="rId1" Type="http://schemas.openxmlformats.org/officeDocument/2006/relationships/tags" Target="../tags/tag336.xml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340.xml"/><Relationship Id="rId1" Type="http://schemas.openxmlformats.org/officeDocument/2006/relationships/tags" Target="../tags/tag339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26.png"/><Relationship Id="rId2" Type="http://schemas.openxmlformats.org/officeDocument/2006/relationships/tags" Target="../tags/tag342.xml"/><Relationship Id="rId1" Type="http://schemas.openxmlformats.org/officeDocument/2006/relationships/tags" Target="../tags/tag34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4.xml"/><Relationship Id="rId1" Type="http://schemas.openxmlformats.org/officeDocument/2006/relationships/tags" Target="../tags/tag34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6.xml"/><Relationship Id="rId1" Type="http://schemas.openxmlformats.org/officeDocument/2006/relationships/tags" Target="../tags/tag34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349.xml"/><Relationship Id="rId2" Type="http://schemas.openxmlformats.org/officeDocument/2006/relationships/tags" Target="../tags/tag348.xml"/><Relationship Id="rId1" Type="http://schemas.openxmlformats.org/officeDocument/2006/relationships/tags" Target="../tags/tag347.xml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1.xml"/><Relationship Id="rId1" Type="http://schemas.openxmlformats.org/officeDocument/2006/relationships/tags" Target="../tags/tag350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3.xml"/><Relationship Id="rId1" Type="http://schemas.openxmlformats.org/officeDocument/2006/relationships/tags" Target="../tags/tag35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6.png"/><Relationship Id="rId2" Type="http://schemas.openxmlformats.org/officeDocument/2006/relationships/tags" Target="../tags/tag355.xml"/><Relationship Id="rId1" Type="http://schemas.openxmlformats.org/officeDocument/2006/relationships/tags" Target="../tags/tag35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9.xml"/><Relationship Id="rId1" Type="http://schemas.openxmlformats.org/officeDocument/2006/relationships/tags" Target="../tags/tag358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5" Type="http://schemas.openxmlformats.org/officeDocument/2006/relationships/image" Target="../media/image39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5.xml"/><Relationship Id="rId1" Type="http://schemas.openxmlformats.org/officeDocument/2006/relationships/tags" Target="../tags/tag36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7.xml"/><Relationship Id="rId1" Type="http://schemas.openxmlformats.org/officeDocument/2006/relationships/tags" Target="../tags/tag366.xml"/><Relationship Id="rId5" Type="http://schemas.openxmlformats.org/officeDocument/2006/relationships/image" Target="../media/image42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5.png"/><Relationship Id="rId2" Type="http://schemas.openxmlformats.org/officeDocument/2006/relationships/tags" Target="../tags/tag369.xml"/><Relationship Id="rId1" Type="http://schemas.openxmlformats.org/officeDocument/2006/relationships/tags" Target="../tags/tag36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0.png"/><Relationship Id="rId9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1.xml"/><Relationship Id="rId1" Type="http://schemas.openxmlformats.org/officeDocument/2006/relationships/tags" Target="../tags/tag370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1027113" y="2243773"/>
            <a:ext cx="10137775" cy="1458595"/>
          </a:xfrm>
        </p:spPr>
        <p:txBody>
          <a:bodyPr>
            <a:normAutofit/>
          </a:bodyPr>
          <a:lstStyle/>
          <a:p>
            <a:pPr algn="ctr"/>
            <a:r>
              <a:rPr lang="en-US" altLang="zh-CN" sz="5335"/>
              <a:t>SonarQube</a:t>
            </a:r>
            <a:r>
              <a:rPr sz="5335">
                <a:ea typeface="宋体" panose="02010600030101010101" pitchFamily="2" charset="-122"/>
              </a:rPr>
              <a:t>研究汇报</a:t>
            </a:r>
            <a:endParaRPr lang="en-US" altLang="zh-CN" sz="5335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  <p:custDataLst>
              <p:tags r:id="rId3"/>
            </p:custDataLst>
          </p:nvPr>
        </p:nvSpPr>
        <p:spPr>
          <a:xfrm>
            <a:off x="475615" y="5272405"/>
            <a:ext cx="10390505" cy="699770"/>
          </a:xfrm>
        </p:spPr>
        <p:txBody>
          <a:bodyPr>
            <a:noAutofit/>
          </a:bodyPr>
          <a:lstStyle/>
          <a:p>
            <a:r>
              <a:rPr lang="zh-CN" altLang="en-US"/>
              <a:t>汇报人：</a:t>
            </a:r>
            <a:r>
              <a:rPr lang="en-US" altLang="zh-CN"/>
              <a:t>2251534 </a:t>
            </a:r>
            <a:r>
              <a:rPr>
                <a:ea typeface="宋体" panose="02010600030101010101" pitchFamily="2" charset="-122"/>
              </a:rPr>
              <a:t>李紫浩</a:t>
            </a:r>
          </a:p>
          <a:p>
            <a:r>
              <a:rPr>
                <a:ea typeface="宋体" panose="02010600030101010101" pitchFamily="2" charset="-122"/>
              </a:rPr>
              <a:t>组内成员：</a:t>
            </a:r>
            <a:r>
              <a:rPr lang="en-US" altLang="zh-CN">
                <a:ea typeface="宋体" panose="02010600030101010101" pitchFamily="2" charset="-122"/>
              </a:rPr>
              <a:t>2251534 </a:t>
            </a:r>
            <a:r>
              <a:rPr>
                <a:ea typeface="宋体" panose="02010600030101010101" pitchFamily="2" charset="-122"/>
              </a:rPr>
              <a:t>李紫浩</a:t>
            </a:r>
            <a:r>
              <a:rPr lang="en-US" altLang="zh-CN">
                <a:ea typeface="宋体" panose="02010600030101010101" pitchFamily="2" charset="-122"/>
              </a:rPr>
              <a:t> 2251531 </a:t>
            </a:r>
            <a:r>
              <a:rPr>
                <a:ea typeface="宋体" panose="02010600030101010101" pitchFamily="2" charset="-122"/>
              </a:rPr>
              <a:t>段培煜</a:t>
            </a:r>
            <a:r>
              <a:rPr lang="en-US" altLang="zh-CN">
                <a:ea typeface="宋体" panose="02010600030101010101" pitchFamily="2" charset="-122"/>
              </a:rPr>
              <a:t> 2251646 </a:t>
            </a:r>
            <a:r>
              <a:rPr>
                <a:ea typeface="宋体" panose="02010600030101010101" pitchFamily="2" charset="-122"/>
              </a:rPr>
              <a:t>陈佳浩</a:t>
            </a:r>
            <a:r>
              <a:rPr lang="en-US" altLang="zh-CN">
                <a:ea typeface="宋体" panose="02010600030101010101" pitchFamily="2" charset="-122"/>
              </a:rPr>
              <a:t> 2252709 </a:t>
            </a:r>
            <a:r>
              <a:rPr>
                <a:ea typeface="宋体" panose="02010600030101010101" pitchFamily="2" charset="-122"/>
              </a:rPr>
              <a:t>杨烜赫</a:t>
            </a: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CONTENT</a:t>
            </a:r>
          </a:p>
        </p:txBody>
      </p:sp>
      <p:sp>
        <p:nvSpPr>
          <p:cNvPr id="8" name="序号"/>
          <p:cNvSpPr txBox="1"/>
          <p:nvPr>
            <p:custDataLst>
              <p:tags r:id="rId3"/>
            </p:custDataLst>
          </p:nvPr>
        </p:nvSpPr>
        <p:spPr>
          <a:xfrm>
            <a:off x="619382" y="2831707"/>
            <a:ext cx="1941124" cy="69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sz="3600" dirty="0">
                <a:latin typeface="+mj-ea"/>
                <a:ea typeface="+mj-ea"/>
                <a:cs typeface="MiSans Normal" charset="-122"/>
                <a:sym typeface="+mn-ea"/>
              </a:rPr>
              <a:t>01</a:t>
            </a:r>
          </a:p>
        </p:txBody>
      </p:sp>
      <p:sp>
        <p:nvSpPr>
          <p:cNvPr id="10" name="标题"/>
          <p:cNvSpPr txBox="1"/>
          <p:nvPr>
            <p:custDataLst>
              <p:tags r:id="rId4"/>
            </p:custDataLst>
          </p:nvPr>
        </p:nvSpPr>
        <p:spPr>
          <a:xfrm>
            <a:off x="687367" y="3701911"/>
            <a:ext cx="1626452" cy="172745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  <a:sym typeface="+mn-ea"/>
              </a:rPr>
              <a:t>目标</a:t>
            </a:r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75285" y="2291715"/>
            <a:ext cx="1962491" cy="3316357"/>
          </a:xfrm>
          <a:prstGeom prst="roundRect">
            <a:avLst>
              <a:gd name="adj" fmla="val 7307"/>
            </a:avLst>
          </a:prstGeom>
          <a:noFill/>
          <a:ln>
            <a:solidFill>
              <a:schemeClr val="tx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 Normal" charset="-122"/>
              <a:sym typeface="+mn-ea"/>
            </a:endParaRPr>
          </a:p>
        </p:txBody>
      </p:sp>
      <p:sp>
        <p:nvSpPr>
          <p:cNvPr id="19" name="矩形: 圆角 18"/>
          <p:cNvSpPr/>
          <p:nvPr>
            <p:custDataLst>
              <p:tags r:id="rId6"/>
            </p:custDataLst>
          </p:nvPr>
        </p:nvSpPr>
        <p:spPr>
          <a:xfrm>
            <a:off x="2804011" y="2291715"/>
            <a:ext cx="1957311" cy="3316357"/>
          </a:xfrm>
          <a:prstGeom prst="roundRect">
            <a:avLst>
              <a:gd name="adj" fmla="val 7307"/>
            </a:avLst>
          </a:prstGeom>
          <a:noFill/>
          <a:ln>
            <a:solidFill>
              <a:schemeClr val="tx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 Normal" charset="-122"/>
              <a:sym typeface="+mn-ea"/>
            </a:endParaRPr>
          </a:p>
        </p:txBody>
      </p:sp>
      <p:sp>
        <p:nvSpPr>
          <p:cNvPr id="24" name="矩形: 圆角 23"/>
          <p:cNvSpPr/>
          <p:nvPr>
            <p:custDataLst>
              <p:tags r:id="rId7"/>
            </p:custDataLst>
          </p:nvPr>
        </p:nvSpPr>
        <p:spPr>
          <a:xfrm>
            <a:off x="5232089" y="2291715"/>
            <a:ext cx="1978030" cy="3317004"/>
          </a:xfrm>
          <a:prstGeom prst="roundRect">
            <a:avLst>
              <a:gd name="adj" fmla="val 7307"/>
            </a:avLst>
          </a:prstGeom>
          <a:noFill/>
          <a:ln>
            <a:solidFill>
              <a:schemeClr val="tx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 Normal" charset="-122"/>
              <a:sym typeface="+mn-ea"/>
            </a:endParaRPr>
          </a:p>
        </p:txBody>
      </p:sp>
      <p:sp>
        <p:nvSpPr>
          <p:cNvPr id="29" name="矩形: 圆角 28"/>
          <p:cNvSpPr/>
          <p:nvPr>
            <p:custDataLst>
              <p:tags r:id="rId8"/>
            </p:custDataLst>
          </p:nvPr>
        </p:nvSpPr>
        <p:spPr>
          <a:xfrm>
            <a:off x="7616191" y="2291715"/>
            <a:ext cx="1930117" cy="3315709"/>
          </a:xfrm>
          <a:prstGeom prst="roundRect">
            <a:avLst>
              <a:gd name="adj" fmla="val 7307"/>
            </a:avLst>
          </a:prstGeom>
          <a:noFill/>
          <a:ln>
            <a:solidFill>
              <a:schemeClr val="tx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 Normal" charset="-122"/>
              <a:sym typeface="+mn-ea"/>
            </a:endParaRPr>
          </a:p>
        </p:txBody>
      </p:sp>
      <p:sp>
        <p:nvSpPr>
          <p:cNvPr id="6" name="序号"/>
          <p:cNvSpPr txBox="1"/>
          <p:nvPr>
            <p:custDataLst>
              <p:tags r:id="rId9"/>
            </p:custDataLst>
          </p:nvPr>
        </p:nvSpPr>
        <p:spPr>
          <a:xfrm>
            <a:off x="3039043" y="2831707"/>
            <a:ext cx="1941124" cy="69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sz="3600" dirty="0">
                <a:latin typeface="+mj-ea"/>
                <a:ea typeface="+mj-ea"/>
                <a:cs typeface="MiSans Normal" charset="-122"/>
                <a:sym typeface="+mn-ea"/>
              </a:rPr>
              <a:t>02</a:t>
            </a:r>
          </a:p>
        </p:txBody>
      </p:sp>
      <p:sp>
        <p:nvSpPr>
          <p:cNvPr id="9" name="标题"/>
          <p:cNvSpPr txBox="1"/>
          <p:nvPr>
            <p:custDataLst>
              <p:tags r:id="rId10"/>
            </p:custDataLst>
          </p:nvPr>
        </p:nvSpPr>
        <p:spPr>
          <a:xfrm>
            <a:off x="3107028" y="3701911"/>
            <a:ext cx="1626452" cy="172745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  <a:sym typeface="+mn-ea"/>
              </a:rPr>
              <a:t>功能与特点</a:t>
            </a:r>
          </a:p>
        </p:txBody>
      </p:sp>
      <p:sp>
        <p:nvSpPr>
          <p:cNvPr id="12" name="序号"/>
          <p:cNvSpPr txBox="1"/>
          <p:nvPr>
            <p:custDataLst>
              <p:tags r:id="rId11"/>
            </p:custDataLst>
          </p:nvPr>
        </p:nvSpPr>
        <p:spPr>
          <a:xfrm>
            <a:off x="5458704" y="2831707"/>
            <a:ext cx="1941124" cy="69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sz="3600" dirty="0">
                <a:latin typeface="+mj-ea"/>
                <a:ea typeface="+mj-ea"/>
                <a:cs typeface="MiSans Normal" charset="-122"/>
                <a:sym typeface="+mn-ea"/>
              </a:rPr>
              <a:t>03</a:t>
            </a:r>
          </a:p>
        </p:txBody>
      </p:sp>
      <p:sp>
        <p:nvSpPr>
          <p:cNvPr id="17" name="标题"/>
          <p:cNvSpPr txBox="1"/>
          <p:nvPr>
            <p:custDataLst>
              <p:tags r:id="rId12"/>
            </p:custDataLst>
          </p:nvPr>
        </p:nvSpPr>
        <p:spPr>
          <a:xfrm>
            <a:off x="5526689" y="3701911"/>
            <a:ext cx="1626452" cy="172745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宋体" panose="02010600030101010101" pitchFamily="2" charset="-122"/>
                <a:cs typeface="MiSans Normal" charset="-122"/>
                <a:sym typeface="+mn-ea"/>
              </a:rPr>
              <a:t>使用方法</a:t>
            </a:r>
          </a:p>
        </p:txBody>
      </p:sp>
      <p:sp>
        <p:nvSpPr>
          <p:cNvPr id="20" name="序号"/>
          <p:cNvSpPr txBox="1"/>
          <p:nvPr>
            <p:custDataLst>
              <p:tags r:id="rId13"/>
            </p:custDataLst>
          </p:nvPr>
        </p:nvSpPr>
        <p:spPr>
          <a:xfrm>
            <a:off x="7850576" y="2831707"/>
            <a:ext cx="1941124" cy="69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sz="3600" dirty="0">
                <a:latin typeface="+mj-ea"/>
                <a:ea typeface="+mj-ea"/>
                <a:cs typeface="MiSans Normal" charset="-122"/>
                <a:sym typeface="+mn-ea"/>
              </a:rPr>
              <a:t>04</a:t>
            </a:r>
          </a:p>
        </p:txBody>
      </p:sp>
      <p:sp>
        <p:nvSpPr>
          <p:cNvPr id="21" name="标题"/>
          <p:cNvSpPr txBox="1"/>
          <p:nvPr>
            <p:custDataLst>
              <p:tags r:id="rId14"/>
            </p:custDataLst>
          </p:nvPr>
        </p:nvSpPr>
        <p:spPr>
          <a:xfrm>
            <a:off x="7918561" y="3701911"/>
            <a:ext cx="1626452" cy="172745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  <a:sym typeface="+mn-ea"/>
              </a:rPr>
              <a:t>实验过程</a:t>
            </a:r>
          </a:p>
        </p:txBody>
      </p:sp>
      <p:sp>
        <p:nvSpPr>
          <p:cNvPr id="22" name="矩形: 圆角 28"/>
          <p:cNvSpPr/>
          <p:nvPr>
            <p:custDataLst>
              <p:tags r:id="rId15"/>
            </p:custDataLst>
          </p:nvPr>
        </p:nvSpPr>
        <p:spPr>
          <a:xfrm>
            <a:off x="9951086" y="2291715"/>
            <a:ext cx="1930117" cy="3315709"/>
          </a:xfrm>
          <a:prstGeom prst="roundRect">
            <a:avLst>
              <a:gd name="adj" fmla="val 7307"/>
            </a:avLst>
          </a:prstGeom>
          <a:noFill/>
          <a:ln>
            <a:solidFill>
              <a:schemeClr val="tx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 Normal" charset="-122"/>
              <a:sym typeface="+mn-ea"/>
            </a:endParaRPr>
          </a:p>
        </p:txBody>
      </p:sp>
      <p:sp>
        <p:nvSpPr>
          <p:cNvPr id="23" name="序号"/>
          <p:cNvSpPr txBox="1"/>
          <p:nvPr>
            <p:custDataLst>
              <p:tags r:id="rId16"/>
            </p:custDataLst>
          </p:nvPr>
        </p:nvSpPr>
        <p:spPr>
          <a:xfrm>
            <a:off x="10185471" y="2831707"/>
            <a:ext cx="1941124" cy="6940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sz="3600" dirty="0">
                <a:latin typeface="+mj-ea"/>
                <a:ea typeface="+mj-ea"/>
                <a:cs typeface="MiSans Normal" charset="-122"/>
                <a:sym typeface="+mn-ea"/>
              </a:rPr>
              <a:t>05</a:t>
            </a:r>
          </a:p>
        </p:txBody>
      </p:sp>
      <p:sp>
        <p:nvSpPr>
          <p:cNvPr id="25" name="标题"/>
          <p:cNvSpPr txBox="1"/>
          <p:nvPr>
            <p:custDataLst>
              <p:tags r:id="rId17"/>
            </p:custDataLst>
          </p:nvPr>
        </p:nvSpPr>
        <p:spPr>
          <a:xfrm>
            <a:off x="10253456" y="3701911"/>
            <a:ext cx="1626452" cy="172745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charset="-122"/>
                <a:sym typeface="+mn-ea"/>
              </a:rPr>
              <a:t>结果分析</a:t>
            </a: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PART-01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4330700" y="2289810"/>
            <a:ext cx="3862070" cy="2117090"/>
          </a:xfrm>
        </p:spPr>
        <p:txBody>
          <a:bodyPr/>
          <a:lstStyle/>
          <a:p>
            <a:pPr algn="ctr"/>
            <a:r>
              <a:rPr lang="zh-CN" altLang="en-US" sz="6000" dirty="0">
                <a:solidFill>
                  <a:schemeClr val="tx1"/>
                </a:solidFill>
              </a:rPr>
              <a:t>目标</a:t>
            </a:r>
          </a:p>
        </p:txBody>
      </p:sp>
      <p:pic>
        <p:nvPicPr>
          <p:cNvPr id="3" name="图片 2" descr="同济大学-logo-512p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pic>
        <p:nvPicPr>
          <p:cNvPr id="7" name="图片 6" descr="sonarqub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6200" y="1177925"/>
            <a:ext cx="4876800" cy="11906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/>
          <p:cNvGrpSpPr/>
          <p:nvPr/>
        </p:nvGrpSpPr>
        <p:grpSpPr>
          <a:xfrm>
            <a:off x="2686301" y="594421"/>
            <a:ext cx="7019491" cy="583565"/>
            <a:chOff x="1949785" y="448308"/>
            <a:chExt cx="5265918" cy="437782"/>
          </a:xfrm>
        </p:grpSpPr>
        <p:sp>
          <p:nvSpPr>
            <p:cNvPr id="112" name="文本框 111"/>
            <p:cNvSpPr txBox="1"/>
            <p:nvPr/>
          </p:nvSpPr>
          <p:spPr>
            <a:xfrm>
              <a:off x="3369352" y="448308"/>
              <a:ext cx="2426784" cy="437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kumimoji="1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defRPr>
              </a:lvl1pPr>
            </a:lstStyle>
            <a:p>
              <a:r>
                <a:rPr lang="zh-CN" altLang="en-US" sz="3200" dirty="0">
                  <a:sym typeface="+mn-lt"/>
                </a:rPr>
                <a:t>测试目的</a:t>
              </a:r>
            </a:p>
          </p:txBody>
        </p:sp>
        <p:sp>
          <p:nvSpPr>
            <p:cNvPr id="113" name="矩形 112"/>
            <p:cNvSpPr/>
            <p:nvPr/>
          </p:nvSpPr>
          <p:spPr>
            <a:xfrm>
              <a:off x="1949785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5955563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 descr="同济大学-logo-512p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59743" y="1532255"/>
            <a:ext cx="9892665" cy="3793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800100" lvl="1" indent="-342900" latinLnBrk="1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zh-CN" sz="2400" dirty="0"/>
              <a:t>评估携程网站在典型预订流程中对真实用户的</a:t>
            </a:r>
            <a:r>
              <a:rPr lang="zh-CN" altLang="zh-CN" sz="2400" b="1" dirty="0"/>
              <a:t>可用性</a:t>
            </a:r>
            <a:endParaRPr lang="en-US" altLang="zh-CN" sz="2400" b="1" dirty="0"/>
          </a:p>
          <a:p>
            <a:pPr marL="800100" lvl="1" indent="-342900" latinLnBrk="1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zh-CN" sz="2400" dirty="0"/>
              <a:t>验证用户在预订机票/酒店/行程时的</a:t>
            </a:r>
            <a:r>
              <a:rPr lang="zh-CN" altLang="zh-CN" sz="2400" b="1" dirty="0"/>
              <a:t>效率</a:t>
            </a:r>
            <a:r>
              <a:rPr lang="zh-CN" altLang="zh-CN" sz="2400" dirty="0"/>
              <a:t>与</a:t>
            </a:r>
            <a:r>
              <a:rPr lang="zh-CN" altLang="zh-CN" sz="2400" b="1" dirty="0"/>
              <a:t>正确率</a:t>
            </a:r>
            <a:endParaRPr lang="en-US" altLang="zh-CN" sz="2400" b="1" dirty="0"/>
          </a:p>
          <a:p>
            <a:pPr marL="800100" lvl="1" indent="-342900" latinLnBrk="1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zh-CN" sz="2400" dirty="0"/>
              <a:t>发现影响用户体验的关键交互障碍，并提出</a:t>
            </a:r>
            <a:r>
              <a:rPr lang="zh-CN" altLang="zh-CN" sz="2400" b="1" dirty="0"/>
              <a:t>可行</a:t>
            </a:r>
            <a:r>
              <a:rPr lang="zh-CN" altLang="en-US" sz="2400" b="1" dirty="0"/>
              <a:t>的</a:t>
            </a:r>
            <a:r>
              <a:rPr lang="zh-CN" altLang="zh-CN" sz="2400" b="1" dirty="0"/>
              <a:t>优化建议</a:t>
            </a:r>
          </a:p>
          <a:p>
            <a:pPr indent="609600" fontAlgn="auto" latinLnBrk="1">
              <a:lnSpc>
                <a:spcPct val="150000"/>
              </a:lnSpc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97377-E235-B5A7-1C6B-2F2E86EC1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9AAB7FC3-C8FE-9938-24E9-0F5878AD0034}"/>
              </a:ext>
            </a:extLst>
          </p:cNvPr>
          <p:cNvGrpSpPr/>
          <p:nvPr/>
        </p:nvGrpSpPr>
        <p:grpSpPr>
          <a:xfrm>
            <a:off x="2686301" y="594421"/>
            <a:ext cx="7019491" cy="584776"/>
            <a:chOff x="1949785" y="448308"/>
            <a:chExt cx="5265918" cy="438690"/>
          </a:xfrm>
        </p:grpSpPr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6CFD04E-9CD9-B381-79CA-0C9AC9A92B6F}"/>
                </a:ext>
              </a:extLst>
            </p:cNvPr>
            <p:cNvSpPr txBox="1"/>
            <p:nvPr/>
          </p:nvSpPr>
          <p:spPr>
            <a:xfrm>
              <a:off x="3369352" y="448308"/>
              <a:ext cx="2426784" cy="438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kumimoji="1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defRPr>
              </a:lvl1pPr>
            </a:lstStyle>
            <a:p>
              <a:r>
                <a:rPr lang="zh-CN" altLang="en-US" sz="3200" dirty="0">
                  <a:sym typeface="+mn-lt"/>
                </a:rPr>
                <a:t>主要目标</a:t>
              </a: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40055FAA-039C-E975-80EE-237152045DBD}"/>
                </a:ext>
              </a:extLst>
            </p:cNvPr>
            <p:cNvSpPr/>
            <p:nvPr/>
          </p:nvSpPr>
          <p:spPr>
            <a:xfrm>
              <a:off x="1949785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8872F88D-98B4-DA2C-C3CE-6071B2CD2EA7}"/>
                </a:ext>
              </a:extLst>
            </p:cNvPr>
            <p:cNvSpPr/>
            <p:nvPr/>
          </p:nvSpPr>
          <p:spPr>
            <a:xfrm>
              <a:off x="5955563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 descr="同济大学-logo-512px">
            <a:extLst>
              <a:ext uri="{FF2B5EF4-FFF2-40B4-BE49-F238E27FC236}">
                <a16:creationId xmlns:a16="http://schemas.microsoft.com/office/drawing/2014/main" id="{C890E063-4269-4CE4-4ADD-58FCF6E96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67DD067-A092-3862-1356-D15743714EFF}"/>
              </a:ext>
            </a:extLst>
          </p:cNvPr>
          <p:cNvSpPr txBox="1"/>
          <p:nvPr/>
        </p:nvSpPr>
        <p:spPr>
          <a:xfrm>
            <a:off x="1559743" y="1342581"/>
            <a:ext cx="10274703" cy="52474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zh-CN" altLang="zh-CN" sz="2400" b="1" dirty="0"/>
              <a:t>功能有效性（Effectiveness）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dirty="0"/>
              <a:t>用户能否在 </a:t>
            </a:r>
            <a:r>
              <a:rPr lang="en-US" altLang="zh-CN" sz="2400" b="1" dirty="0"/>
              <a:t>90</a:t>
            </a:r>
            <a:r>
              <a:rPr lang="zh-CN" altLang="zh-CN" sz="2400" b="1" dirty="0"/>
              <a:t> 秒内</a:t>
            </a:r>
            <a:r>
              <a:rPr lang="zh-CN" altLang="zh-CN" sz="2400" dirty="0"/>
              <a:t>，正确完成从首页搜索到预订确认的</a:t>
            </a:r>
            <a:r>
              <a:rPr lang="zh-CN" altLang="zh-CN" sz="2400" b="1" dirty="0"/>
              <a:t>全流程过程</a:t>
            </a:r>
            <a:r>
              <a:rPr lang="zh-CN" altLang="zh-CN" sz="2400" dirty="0"/>
              <a:t>出错</a:t>
            </a:r>
            <a:r>
              <a:rPr lang="zh-CN" altLang="zh-CN" sz="2400" b="1" dirty="0"/>
              <a:t>不超过 1 次</a:t>
            </a:r>
            <a:endParaRPr lang="en-US" altLang="zh-CN" sz="2400" b="1" dirty="0"/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zh-CN" sz="2400" b="1" dirty="0"/>
              <a:t>使用效率（Efficiency）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dirty="0"/>
              <a:t>平均每个关键步骤（</a:t>
            </a:r>
            <a:r>
              <a:rPr lang="zh-CN" altLang="zh-CN" sz="2400" b="1" dirty="0"/>
              <a:t>搜索、筛选、下单</a:t>
            </a:r>
            <a:r>
              <a:rPr lang="zh-CN" altLang="zh-CN" sz="2400" dirty="0"/>
              <a:t>）的操作时长 ≤ </a:t>
            </a:r>
            <a:r>
              <a:rPr lang="zh-CN" altLang="zh-CN" sz="2400" b="1" dirty="0"/>
              <a:t>15 秒</a:t>
            </a:r>
            <a:endParaRPr lang="en-US" altLang="zh-CN" sz="2400" b="1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dirty="0"/>
              <a:t>总流程完成时间 ≤ </a:t>
            </a:r>
            <a:r>
              <a:rPr lang="zh-CN" altLang="zh-CN" sz="2400" b="1" dirty="0"/>
              <a:t>120 秒</a:t>
            </a:r>
          </a:p>
          <a:p>
            <a:pPr marL="457200" marR="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zh-CN" altLang="zh-CN" sz="2400" b="1" dirty="0"/>
              <a:t>易学性（Learnability）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dirty="0"/>
              <a:t>从首次访问到能够自信执行预订流程的步骤 ≤ </a:t>
            </a:r>
            <a:r>
              <a:rPr lang="zh-CN" altLang="zh-CN" sz="2400" b="1" dirty="0"/>
              <a:t>3 步</a:t>
            </a:r>
            <a:endParaRPr lang="en-US" altLang="zh-CN" sz="2400" b="1" dirty="0"/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zh-CN" sz="2400" b="1" dirty="0"/>
              <a:t>安全性（Safety）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dirty="0"/>
              <a:t>在输入支付信息及确认订单环节无误触导致的误操作</a:t>
            </a:r>
            <a:endParaRPr lang="en-US" altLang="zh-CN" sz="240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dirty="0"/>
              <a:t>用户对退改签流程的理解无重大歧义</a:t>
            </a:r>
          </a:p>
          <a:p>
            <a:pPr marL="457200" marR="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zh-CN" altLang="zh-CN" sz="2400" b="1" dirty="0"/>
              <a:t>实用性（Utility）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dirty="0"/>
              <a:t>功能覆盖用户核心需求，如搜索、筛选、支付和客服咨询</a:t>
            </a:r>
            <a:endParaRPr lang="en-US" altLang="zh-CN" sz="2400" dirty="0"/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2400" dirty="0"/>
              <a:t>辅助功能（如价格日历、地图选房）使用频率及满意度</a:t>
            </a:r>
          </a:p>
          <a:p>
            <a:pPr indent="609600" fontAlgn="auto" latinLnBrk="1">
              <a:lnSpc>
                <a:spcPct val="150000"/>
              </a:lnSpc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endParaRPr lang="zh-CN" altLang="en-US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C9CD70-5249-9E38-2553-B5C8B390D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482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2130-AE52-69F9-612F-C05B408A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EE8478B1-9D4B-5FF8-6555-8A17901BF27E}"/>
              </a:ext>
            </a:extLst>
          </p:cNvPr>
          <p:cNvGrpSpPr/>
          <p:nvPr/>
        </p:nvGrpSpPr>
        <p:grpSpPr>
          <a:xfrm>
            <a:off x="2686301" y="594421"/>
            <a:ext cx="7019491" cy="584776"/>
            <a:chOff x="1949785" y="448308"/>
            <a:chExt cx="5265918" cy="438690"/>
          </a:xfrm>
        </p:grpSpPr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DFE1ACDF-F7F6-41B7-D154-0BCEFD742E40}"/>
                </a:ext>
              </a:extLst>
            </p:cNvPr>
            <p:cNvSpPr txBox="1"/>
            <p:nvPr/>
          </p:nvSpPr>
          <p:spPr>
            <a:xfrm>
              <a:off x="3369352" y="448308"/>
              <a:ext cx="2426784" cy="438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kumimoji="1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defRPr>
              </a:lvl1pPr>
            </a:lstStyle>
            <a:p>
              <a:r>
                <a:rPr lang="zh-CN" altLang="en-US" sz="3200" dirty="0">
                  <a:sym typeface="+mn-lt"/>
                </a:rPr>
                <a:t>约束条件与机会</a:t>
              </a: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766BF4E7-DAAD-85D5-3098-F7112D3CD87E}"/>
                </a:ext>
              </a:extLst>
            </p:cNvPr>
            <p:cNvSpPr/>
            <p:nvPr/>
          </p:nvSpPr>
          <p:spPr>
            <a:xfrm>
              <a:off x="1949785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B8883233-D64F-A488-A0CE-422181AC1183}"/>
                </a:ext>
              </a:extLst>
            </p:cNvPr>
            <p:cNvSpPr/>
            <p:nvPr/>
          </p:nvSpPr>
          <p:spPr>
            <a:xfrm>
              <a:off x="5955563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 descr="同济大学-logo-512px">
            <a:extLst>
              <a:ext uri="{FF2B5EF4-FFF2-40B4-BE49-F238E27FC236}">
                <a16:creationId xmlns:a16="http://schemas.microsoft.com/office/drawing/2014/main" id="{B2550858-9DB5-582A-3D57-8CD271C6D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A45CD7A-7EEB-73CF-7713-3C8C0F3248B3}"/>
              </a:ext>
            </a:extLst>
          </p:cNvPr>
          <p:cNvSpPr txBox="1"/>
          <p:nvPr/>
        </p:nvSpPr>
        <p:spPr>
          <a:xfrm>
            <a:off x="1559743" y="1342581"/>
            <a:ext cx="10134951" cy="3309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609600" fontAlgn="auto" latinLnBrk="1">
              <a:lnSpc>
                <a:spcPct val="150000"/>
              </a:lnSpc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b="1" dirty="0"/>
              <a:t>约束条件  </a:t>
            </a:r>
            <a:r>
              <a:rPr lang="en-US" altLang="zh-CN" sz="2400" dirty="0"/>
              <a:t>Constraints</a:t>
            </a:r>
            <a:endParaRPr lang="en-US" altLang="zh-CN" sz="2400" b="1" dirty="0"/>
          </a:p>
          <a:p>
            <a:pPr indent="609600" fontAlgn="auto" latinLnBrk="1">
              <a:lnSpc>
                <a:spcPct val="150000"/>
              </a:lnSpc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时间限制：评估需在一周内完成，包括用户测试和结果分析</a:t>
            </a:r>
            <a:endParaRPr lang="en-US" altLang="zh-CN" sz="2400" dirty="0"/>
          </a:p>
          <a:p>
            <a:pPr indent="609600" fontAlgn="auto" latinLnBrk="1">
              <a:lnSpc>
                <a:spcPct val="150000"/>
              </a:lnSpc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设备限制：仅测试</a:t>
            </a:r>
            <a:r>
              <a:rPr lang="en-US" altLang="zh-CN" sz="2400" dirty="0"/>
              <a:t>PC</a:t>
            </a:r>
            <a:r>
              <a:rPr lang="zh-CN" altLang="en-US" sz="2400" dirty="0"/>
              <a:t>网页版携程平台</a:t>
            </a:r>
            <a:endParaRPr lang="en-US" altLang="zh-CN" sz="2400" dirty="0"/>
          </a:p>
          <a:p>
            <a:pPr indent="609600" fontAlgn="auto" latinLnBrk="1">
              <a:lnSpc>
                <a:spcPct val="150000"/>
              </a:lnSpc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用户群体：测试对象限定为</a:t>
            </a:r>
            <a:r>
              <a:rPr lang="en-US" altLang="zh-CN" sz="2400" dirty="0"/>
              <a:t>25-45</a:t>
            </a:r>
            <a:r>
              <a:rPr lang="zh-CN" altLang="en-US" sz="2400" dirty="0"/>
              <a:t>岁有子女参加高考的家长</a:t>
            </a:r>
            <a:endParaRPr lang="en-US" altLang="zh-CN" sz="2400" dirty="0"/>
          </a:p>
          <a:p>
            <a:pPr indent="609600" fontAlgn="auto" latinLnBrk="1">
              <a:lnSpc>
                <a:spcPct val="150000"/>
              </a:lnSpc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测试环境：在模拟家庭环境中进行，非实验室环境</a:t>
            </a:r>
            <a:endParaRPr lang="en-US" altLang="zh-CN" sz="2400" dirty="0"/>
          </a:p>
          <a:p>
            <a:pPr indent="609600" fontAlgn="auto" latinLnBrk="1">
              <a:lnSpc>
                <a:spcPct val="150000"/>
              </a:lnSpc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技术限制：无法直接获取携程后台数据，仅基于前端用户体验评估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224B18-1645-FBF3-B33B-E0DD54137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FF2E6A-C82E-9B56-E7E6-2A45EFB7365B}"/>
              </a:ext>
            </a:extLst>
          </p:cNvPr>
          <p:cNvSpPr txBox="1"/>
          <p:nvPr/>
        </p:nvSpPr>
        <p:spPr>
          <a:xfrm>
            <a:off x="1559743" y="4608764"/>
            <a:ext cx="10511941" cy="3309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609600" fontAlgn="auto" latinLnBrk="1">
              <a:lnSpc>
                <a:spcPct val="150000"/>
              </a:lnSpc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b="1" dirty="0"/>
              <a:t>机会  </a:t>
            </a:r>
            <a:r>
              <a:rPr lang="en-US" altLang="zh-CN" sz="2400" dirty="0"/>
              <a:t>Opportunities</a:t>
            </a:r>
          </a:p>
          <a:p>
            <a:pPr indent="609600" fontAlgn="auto" latinLnBrk="1">
              <a:lnSpc>
                <a:spcPct val="150000"/>
              </a:lnSpc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改进用户界面：优化酒店筛选功能，增强</a:t>
            </a:r>
            <a:r>
              <a:rPr lang="en-US" altLang="zh-CN" sz="2400" dirty="0"/>
              <a:t>“</a:t>
            </a:r>
            <a:r>
              <a:rPr lang="zh-CN" altLang="en-US" sz="2400" dirty="0"/>
              <a:t>高考专区</a:t>
            </a:r>
            <a:r>
              <a:rPr lang="en-US" altLang="zh-CN" sz="2400" dirty="0"/>
              <a:t>”</a:t>
            </a:r>
            <a:r>
              <a:rPr lang="zh-CN" altLang="en-US" sz="2400" dirty="0"/>
              <a:t>等特定场景功能</a:t>
            </a:r>
            <a:endParaRPr lang="en-US" altLang="zh-CN" sz="2400" dirty="0"/>
          </a:p>
          <a:p>
            <a:pPr indent="609600" fontAlgn="auto" latinLnBrk="1">
              <a:lnSpc>
                <a:spcPct val="150000"/>
              </a:lnSpc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流程优化：简化预订流程，减少不必要步骤提高效率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5656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AA52A-9D1B-A629-BA57-E31C860F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0AED53AE-DCAF-312F-4F13-73B2BFD325A5}"/>
              </a:ext>
            </a:extLst>
          </p:cNvPr>
          <p:cNvGrpSpPr/>
          <p:nvPr/>
        </p:nvGrpSpPr>
        <p:grpSpPr>
          <a:xfrm>
            <a:off x="2686301" y="594421"/>
            <a:ext cx="7019491" cy="584776"/>
            <a:chOff x="1949785" y="448308"/>
            <a:chExt cx="5265918" cy="438690"/>
          </a:xfrm>
        </p:grpSpPr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394487FC-1621-1994-002C-37DD039F32FD}"/>
                </a:ext>
              </a:extLst>
            </p:cNvPr>
            <p:cNvSpPr txBox="1"/>
            <p:nvPr/>
          </p:nvSpPr>
          <p:spPr>
            <a:xfrm>
              <a:off x="3369352" y="448308"/>
              <a:ext cx="2426784" cy="438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kumimoji="1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defRPr>
              </a:lvl1pPr>
            </a:lstStyle>
            <a:p>
              <a:r>
                <a:rPr lang="zh-CN" altLang="en-US" sz="3200" dirty="0">
                  <a:sym typeface="+mn-lt"/>
                </a:rPr>
                <a:t>核心评估问题</a:t>
              </a: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69542D45-63E6-C3D3-F8E2-12116A25C5B1}"/>
                </a:ext>
              </a:extLst>
            </p:cNvPr>
            <p:cNvSpPr/>
            <p:nvPr/>
          </p:nvSpPr>
          <p:spPr>
            <a:xfrm>
              <a:off x="1949785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0D83E8F5-216A-A8A5-BE9E-73F1199DBC86}"/>
                </a:ext>
              </a:extLst>
            </p:cNvPr>
            <p:cNvSpPr/>
            <p:nvPr/>
          </p:nvSpPr>
          <p:spPr>
            <a:xfrm>
              <a:off x="5955563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 descr="同济大学-logo-512px">
            <a:extLst>
              <a:ext uri="{FF2B5EF4-FFF2-40B4-BE49-F238E27FC236}">
                <a16:creationId xmlns:a16="http://schemas.microsoft.com/office/drawing/2014/main" id="{A66CADED-D499-6E98-A35D-F48E78F12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6341E7F-78CF-5838-F67D-6E47CF7609BB}"/>
              </a:ext>
            </a:extLst>
          </p:cNvPr>
          <p:cNvSpPr txBox="1"/>
          <p:nvPr/>
        </p:nvSpPr>
        <p:spPr>
          <a:xfrm>
            <a:off x="1297537" y="1179197"/>
            <a:ext cx="10274703" cy="56788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b="1" dirty="0"/>
              <a:t>搜索效率问题</a:t>
            </a:r>
            <a:endParaRPr lang="en-US" altLang="zh-CN" sz="2400" b="1" dirty="0"/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家长能否轻松找到距离考点步行</a:t>
            </a:r>
            <a:r>
              <a:rPr lang="en-US" altLang="zh-CN" sz="2400" dirty="0"/>
              <a:t>15</a:t>
            </a:r>
            <a:r>
              <a:rPr lang="zh-CN" altLang="en-US" sz="2400" dirty="0"/>
              <a:t>分钟内的酒店？</a:t>
            </a:r>
            <a:endParaRPr lang="en-US" altLang="zh-CN" sz="2400" dirty="0"/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筛选功能是否支持</a:t>
            </a:r>
            <a:r>
              <a:rPr lang="en-US" altLang="zh-CN" sz="2400" dirty="0"/>
              <a:t>"</a:t>
            </a:r>
            <a:r>
              <a:rPr lang="zh-CN" altLang="en-US" sz="2400" dirty="0"/>
              <a:t>安静</a:t>
            </a:r>
            <a:r>
              <a:rPr lang="en-US" altLang="zh-CN" sz="2400" dirty="0"/>
              <a:t>""</a:t>
            </a:r>
            <a:r>
              <a:rPr lang="zh-CN" altLang="en-US" sz="2400" dirty="0"/>
              <a:t>书桌</a:t>
            </a:r>
            <a:r>
              <a:rPr lang="en-US" altLang="zh-CN" sz="2400" dirty="0"/>
              <a:t>""</a:t>
            </a:r>
            <a:r>
              <a:rPr lang="zh-CN" altLang="en-US" sz="2400" dirty="0"/>
              <a:t>早餐</a:t>
            </a:r>
            <a:r>
              <a:rPr lang="en-US" altLang="zh-CN" sz="2400" dirty="0"/>
              <a:t>"</a:t>
            </a:r>
            <a:r>
              <a:rPr lang="zh-CN" altLang="en-US" sz="2400" dirty="0"/>
              <a:t>等高考关键需求？</a:t>
            </a:r>
            <a:endParaRPr lang="en-US" altLang="zh-CN" sz="2400" dirty="0"/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b="1" dirty="0"/>
              <a:t>信息透明度问题</a:t>
            </a:r>
            <a:endParaRPr lang="en-US" altLang="zh-CN" sz="2400" b="1" dirty="0"/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酒店距离考点的实际步行时间是否准确？</a:t>
            </a:r>
            <a:endParaRPr lang="en-US" altLang="zh-CN" sz="2400" dirty="0"/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取消政策是否清晰直观？</a:t>
            </a:r>
            <a:endParaRPr lang="en-US" altLang="zh-CN" sz="2400" dirty="0"/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高考期间价格是否存在异常波动？</a:t>
            </a:r>
            <a:endParaRPr lang="en-US" altLang="zh-CN" sz="2400" dirty="0"/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b="1" dirty="0"/>
              <a:t>操作流畅度问题</a:t>
            </a:r>
            <a:endParaRPr lang="en-US" altLang="zh-CN" sz="2400" b="1" dirty="0"/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从搜索到完成预订需要多少步骤？</a:t>
            </a:r>
            <a:endParaRPr lang="en-US" altLang="zh-CN" sz="2400" dirty="0"/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4158780845"/>
                </a:ext>
              </a:extLst>
            </a:pPr>
            <a:r>
              <a:rPr lang="zh-CN" altLang="en-US" sz="2400" dirty="0"/>
              <a:t>用户在哪些环节最容易犯错或遇到困难？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6877F6-9EEB-1F44-7478-006A2934A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5269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4B64-13E1-6E3F-6D49-CFD5DD809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9C9645C9-299F-F389-A88A-492B58AEE4D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endParaRPr dirty="0">
              <a:ea typeface="宋体" panose="02010600030101010101" pitchFamily="2" charset="-122"/>
            </a:endParaRPr>
          </a:p>
        </p:txBody>
      </p:sp>
      <p:pic>
        <p:nvPicPr>
          <p:cNvPr id="2" name="图片 1" descr="同济大学-logo-512px">
            <a:extLst>
              <a:ext uri="{FF2B5EF4-FFF2-40B4-BE49-F238E27FC236}">
                <a16:creationId xmlns:a16="http://schemas.microsoft.com/office/drawing/2014/main" id="{B3393CB5-4D20-AFCB-7F57-66BB01BD1F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25B42A3-6082-A5CC-C9BB-7C520342DD8D}"/>
              </a:ext>
            </a:extLst>
          </p:cNvPr>
          <p:cNvSpPr/>
          <p:nvPr/>
        </p:nvSpPr>
        <p:spPr>
          <a:xfrm>
            <a:off x="1376143" y="1520952"/>
            <a:ext cx="2120860" cy="5949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rPr>
              <a:t>搜索筛选任务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E7BF751-38A4-75AA-7B5E-AC5F43D5AA39}"/>
              </a:ext>
            </a:extLst>
          </p:cNvPr>
          <p:cNvSpPr/>
          <p:nvPr/>
        </p:nvSpPr>
        <p:spPr>
          <a:xfrm>
            <a:off x="4747945" y="1520952"/>
            <a:ext cx="2120860" cy="5949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rPr>
              <a:t>酒店评估任务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BB48C4B-9DA9-9BBE-00CE-C21CB505A2E6}"/>
              </a:ext>
            </a:extLst>
          </p:cNvPr>
          <p:cNvSpPr/>
          <p:nvPr/>
        </p:nvSpPr>
        <p:spPr>
          <a:xfrm>
            <a:off x="8296281" y="1520952"/>
            <a:ext cx="2120860" cy="5949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rPr>
              <a:t>预订流程任务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君黑-45简" panose="020B0604020202020204" charset="-122"/>
              <a:ea typeface="汉仪君黑-45简" panose="020B0604020202020204" charset="-122"/>
              <a:sym typeface="汉仪君黑-45简" panose="020B060402020202020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3D888C-C2D4-A71D-ACF7-E40A9919F4EB}"/>
              </a:ext>
            </a:extLst>
          </p:cNvPr>
          <p:cNvSpPr/>
          <p:nvPr/>
        </p:nvSpPr>
        <p:spPr>
          <a:xfrm>
            <a:off x="1376079" y="2180240"/>
            <a:ext cx="2260600" cy="222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lvl="0" algn="ctr" defTabSz="86677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sym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C0088E8-A1A2-6518-3F62-B0F6879AC74D}"/>
              </a:ext>
            </a:extLst>
          </p:cNvPr>
          <p:cNvGrpSpPr/>
          <p:nvPr/>
        </p:nvGrpSpPr>
        <p:grpSpPr>
          <a:xfrm>
            <a:off x="3561114" y="1639220"/>
            <a:ext cx="1021715" cy="278765"/>
            <a:chOff x="5471550" y="6208515"/>
            <a:chExt cx="1780294" cy="527446"/>
          </a:xfrm>
          <a:solidFill>
            <a:schemeClr val="accent2"/>
          </a:solidFill>
        </p:grpSpPr>
        <p:sp>
          <p:nvSpPr>
            <p:cNvPr id="8" name="箭头: V 形 7">
              <a:extLst>
                <a:ext uri="{FF2B5EF4-FFF2-40B4-BE49-F238E27FC236}">
                  <a16:creationId xmlns:a16="http://schemas.microsoft.com/office/drawing/2014/main" id="{45D94642-09A4-251B-3C04-3FF072C5BB26}"/>
                </a:ext>
              </a:extLst>
            </p:cNvPr>
            <p:cNvSpPr/>
            <p:nvPr/>
          </p:nvSpPr>
          <p:spPr>
            <a:xfrm>
              <a:off x="5471550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4" name="箭头: V 形 16">
              <a:extLst>
                <a:ext uri="{FF2B5EF4-FFF2-40B4-BE49-F238E27FC236}">
                  <a16:creationId xmlns:a16="http://schemas.microsoft.com/office/drawing/2014/main" id="{A8EB0FCD-F060-04E8-A40F-71002330280E}"/>
                </a:ext>
              </a:extLst>
            </p:cNvPr>
            <p:cNvSpPr/>
            <p:nvPr/>
          </p:nvSpPr>
          <p:spPr>
            <a:xfrm>
              <a:off x="6109669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18" name="箭头: V 形 17">
              <a:extLst>
                <a:ext uri="{FF2B5EF4-FFF2-40B4-BE49-F238E27FC236}">
                  <a16:creationId xmlns:a16="http://schemas.microsoft.com/office/drawing/2014/main" id="{4666BB86-60ED-319F-EAD4-B8087F3FC7C4}"/>
                </a:ext>
              </a:extLst>
            </p:cNvPr>
            <p:cNvSpPr/>
            <p:nvPr/>
          </p:nvSpPr>
          <p:spPr>
            <a:xfrm>
              <a:off x="6747788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696FE42-D2DC-DCDE-08E5-F555555F1B9F}"/>
              </a:ext>
            </a:extLst>
          </p:cNvPr>
          <p:cNvGrpSpPr/>
          <p:nvPr/>
        </p:nvGrpSpPr>
        <p:grpSpPr>
          <a:xfrm>
            <a:off x="7065044" y="1679225"/>
            <a:ext cx="1021715" cy="278765"/>
            <a:chOff x="5471550" y="6208515"/>
            <a:chExt cx="1780294" cy="527446"/>
          </a:xfrm>
          <a:solidFill>
            <a:schemeClr val="accent2"/>
          </a:solidFill>
        </p:grpSpPr>
        <p:sp>
          <p:nvSpPr>
            <p:cNvPr id="15" name="箭头: V 形 7">
              <a:extLst>
                <a:ext uri="{FF2B5EF4-FFF2-40B4-BE49-F238E27FC236}">
                  <a16:creationId xmlns:a16="http://schemas.microsoft.com/office/drawing/2014/main" id="{5ECAF839-5227-A913-9BB0-857EBB97D58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471550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16" name="箭头: V 形 16">
              <a:extLst>
                <a:ext uri="{FF2B5EF4-FFF2-40B4-BE49-F238E27FC236}">
                  <a16:creationId xmlns:a16="http://schemas.microsoft.com/office/drawing/2014/main" id="{99CE985D-602C-3521-B9EE-A0444B329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109669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19" name="箭头: V 形 17">
              <a:extLst>
                <a:ext uri="{FF2B5EF4-FFF2-40B4-BE49-F238E27FC236}">
                  <a16:creationId xmlns:a16="http://schemas.microsoft.com/office/drawing/2014/main" id="{F44105E7-C735-425E-7F0B-FECA676DF85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747788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A9F6F493-B3FD-376C-24D4-E1B8063A0280}"/>
              </a:ext>
            </a:extLst>
          </p:cNvPr>
          <p:cNvSpPr txBox="1"/>
          <p:nvPr/>
        </p:nvSpPr>
        <p:spPr>
          <a:xfrm>
            <a:off x="4173250" y="2387021"/>
            <a:ext cx="3679829" cy="102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pPr marL="285750" indent="-285750" defTabSz="866775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对比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家候选酒店的价格、距离和评价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ea typeface="汉仪君黑-45简" panose="020B0604020202020204" charset="-122"/>
            </a:endParaRPr>
          </a:p>
          <a:p>
            <a:pPr marL="285750" indent="-285750" defTabSz="866775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校验酒店实际位置（使用地图功能）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ea typeface="汉仪君黑-45简" panose="020B0604020202020204" charset="-122"/>
            </a:endParaRPr>
          </a:p>
          <a:p>
            <a:pPr marL="285750" indent="-285750" defTabSz="866775" fontAlgn="base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查看用户评价中是否有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"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安静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"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相关反馈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ACD3BA0-133B-B674-F45C-28EB73161E5F}"/>
              </a:ext>
            </a:extLst>
          </p:cNvPr>
          <p:cNvSpPr txBox="1"/>
          <p:nvPr/>
        </p:nvSpPr>
        <p:spPr>
          <a:xfrm>
            <a:off x="7853079" y="2512591"/>
            <a:ext cx="3432542" cy="102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pPr marL="285750" indent="-285750" defTabSz="866775" fontAlgn="base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选择房型并填写入住信息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ea typeface="汉仪君黑-45简" panose="020B0604020202020204" charset="-122"/>
            </a:endParaRPr>
          </a:p>
          <a:p>
            <a:pPr marL="285750" indent="-285750" defTabSz="866775" fontAlgn="base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查看取消政策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ea typeface="汉仪君黑-45简" panose="020B0604020202020204" charset="-122"/>
            </a:endParaRPr>
          </a:p>
          <a:p>
            <a:pPr marL="285750" indent="-285750" defTabSz="866775" fontAlgn="base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ea typeface="汉仪君黑-45简" panose="020B0604020202020204" charset="-122"/>
              </a:rPr>
              <a:t>完成支付流程（模拟到最后一步）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14298C-DFF3-430C-0572-D544D8FF7C16}"/>
              </a:ext>
            </a:extLst>
          </p:cNvPr>
          <p:cNvGrpSpPr/>
          <p:nvPr/>
        </p:nvGrpSpPr>
        <p:grpSpPr>
          <a:xfrm>
            <a:off x="2570061" y="550129"/>
            <a:ext cx="7019491" cy="584774"/>
            <a:chOff x="1949785" y="448308"/>
            <a:chExt cx="5265918" cy="438689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A72EA6F-10BD-CF03-9F94-14764A81B7BA}"/>
                </a:ext>
              </a:extLst>
            </p:cNvPr>
            <p:cNvSpPr txBox="1"/>
            <p:nvPr/>
          </p:nvSpPr>
          <p:spPr>
            <a:xfrm>
              <a:off x="3369352" y="448308"/>
              <a:ext cx="2624764" cy="438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kumimoji="1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defRPr>
              </a:lvl1pPr>
            </a:lstStyle>
            <a:p>
              <a:r>
                <a:rPr lang="zh-CN" altLang="en-US" sz="3200" dirty="0">
                  <a:sym typeface="+mn-lt"/>
                </a:rPr>
                <a:t>任务和所需数据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6E9BE2B-DF88-1AAA-10FF-B434831D6C87}"/>
                </a:ext>
              </a:extLst>
            </p:cNvPr>
            <p:cNvSpPr/>
            <p:nvPr/>
          </p:nvSpPr>
          <p:spPr>
            <a:xfrm>
              <a:off x="1949785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CBBEB1A-0D38-E388-3438-4CAFC9EC432A}"/>
                </a:ext>
              </a:extLst>
            </p:cNvPr>
            <p:cNvSpPr/>
            <p:nvPr/>
          </p:nvSpPr>
          <p:spPr>
            <a:xfrm>
              <a:off x="5955563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AA7AA340-3D0D-220D-F5F0-F1D24EEC424C}"/>
              </a:ext>
            </a:extLst>
          </p:cNvPr>
          <p:cNvSpPr txBox="1"/>
          <p:nvPr/>
        </p:nvSpPr>
        <p:spPr>
          <a:xfrm>
            <a:off x="1250031" y="2378131"/>
            <a:ext cx="2855423" cy="167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pPr marL="285750" indent="-285750" defTabSz="866775" fontAlgn="base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在携程网站搜索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"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北京市海淀区中关村中学附近酒店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“</a:t>
            </a:r>
          </a:p>
          <a:p>
            <a:pPr marL="285750" indent="-285750" defTabSz="866775" fontAlgn="base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筛选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300-500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价格区间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汉仪君黑-45简" panose="020B0604020202020204" charset="-122"/>
              <a:ea typeface="汉仪君黑-45简" panose="020B0604020202020204" charset="-122"/>
            </a:endParaRPr>
          </a:p>
          <a:p>
            <a:pPr marL="285750" indent="-285750" defTabSz="866775" fontAlgn="base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应用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"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安静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""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书桌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""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早餐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"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等关键需求筛选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B790C7F-1704-2C81-AF59-B68C9194DD29}"/>
              </a:ext>
            </a:extLst>
          </p:cNvPr>
          <p:cNvSpPr txBox="1"/>
          <p:nvPr/>
        </p:nvSpPr>
        <p:spPr>
          <a:xfrm>
            <a:off x="1376079" y="4163888"/>
            <a:ext cx="3679829" cy="267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zh-CN" altLang="en-US" dirty="0"/>
              <a:t>定量数据：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任务完成时间（平均值及标准差）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每个任务的完成率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用户点击次数与导航路径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错误次数及类型统计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用户满意度评分（</a:t>
            </a:r>
            <a:r>
              <a:rPr lang="en-US" altLang="zh-CN" dirty="0"/>
              <a:t>1-10</a:t>
            </a:r>
            <a:r>
              <a:rPr lang="zh-CN" altLang="en-US" dirty="0"/>
              <a:t>分）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1983789-07B4-890A-2827-5CC9B888BCEA}"/>
              </a:ext>
            </a:extLst>
          </p:cNvPr>
          <p:cNvSpPr txBox="1"/>
          <p:nvPr/>
        </p:nvSpPr>
        <p:spPr>
          <a:xfrm>
            <a:off x="1398315" y="4048204"/>
            <a:ext cx="2797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需收集的数据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31CE9F0-7B0C-9CA5-A8A4-41402582C672}"/>
              </a:ext>
            </a:extLst>
          </p:cNvPr>
          <p:cNvSpPr txBox="1"/>
          <p:nvPr/>
        </p:nvSpPr>
        <p:spPr>
          <a:xfrm>
            <a:off x="6246844" y="4232870"/>
            <a:ext cx="3679829" cy="2259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pPr>
              <a:buNone/>
            </a:pPr>
            <a:r>
              <a:rPr lang="zh-CN" altLang="en-US" dirty="0"/>
              <a:t>定性数据：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用户口头反馈（边操作边思考法）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用户遇到的困难点记录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用户对界面直观性的反馈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 改进建议收集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0943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"/>
          </p:nvPr>
        </p:nvSpPr>
        <p:spPr/>
        <p:txBody>
          <a:bodyPr>
            <a:normAutofit/>
          </a:bodyPr>
          <a:lstStyle/>
          <a:p>
            <a:r>
              <a:rPr>
                <a:ea typeface="宋体" panose="02010600030101010101" pitchFamily="2" charset="-122"/>
              </a:rPr>
              <a:t>研究目标</a:t>
            </a:r>
          </a:p>
        </p:txBody>
      </p:sp>
      <p:sp>
        <p:nvSpPr>
          <p:cNvPr id="23" name="任意多边形"/>
          <p:cNvSpPr/>
          <p:nvPr>
            <p:custDataLst>
              <p:tags r:id="rId2"/>
            </p:custDataLst>
          </p:nvPr>
        </p:nvSpPr>
        <p:spPr>
          <a:xfrm>
            <a:off x="1274445" y="1769745"/>
            <a:ext cx="3923665" cy="1141095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0" dist="38100" dir="2700000" sx="103000" sy="103000" algn="t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汉仪君黑-45简" panose="020B0604020202020204" charset="-122"/>
              <a:ea typeface="汉仪君黑-45简" panose="020B0604020202020204" charset="-122"/>
              <a:sym typeface="Arial" panose="020B0604020202020204"/>
            </a:endParaRPr>
          </a:p>
        </p:txBody>
      </p:sp>
      <p:sp>
        <p:nvSpPr>
          <p:cNvPr id="24" name="任意多边形"/>
          <p:cNvSpPr/>
          <p:nvPr>
            <p:custDataLst>
              <p:tags r:id="rId3"/>
            </p:custDataLst>
          </p:nvPr>
        </p:nvSpPr>
        <p:spPr>
          <a:xfrm>
            <a:off x="661670" y="1769745"/>
            <a:ext cx="1236980" cy="1141095"/>
          </a:xfrm>
          <a:custGeom>
            <a:avLst/>
            <a:gdLst/>
            <a:ahLst/>
            <a:cxnLst/>
            <a:rect l="l" t="t" r="r" b="b"/>
            <a:pathLst>
              <a:path w="11411" h="14941" extrusionOk="0">
                <a:moveTo>
                  <a:pt x="2092" y="1"/>
                </a:moveTo>
                <a:cubicBezTo>
                  <a:pt x="942" y="1"/>
                  <a:pt x="0" y="943"/>
                  <a:pt x="0" y="2093"/>
                </a:cubicBezTo>
                <a:lnTo>
                  <a:pt x="0" y="12858"/>
                </a:lnTo>
                <a:cubicBezTo>
                  <a:pt x="0" y="14008"/>
                  <a:pt x="942" y="14940"/>
                  <a:pt x="2092" y="14940"/>
                </a:cubicBezTo>
                <a:lnTo>
                  <a:pt x="8476" y="14940"/>
                </a:lnTo>
                <a:cubicBezTo>
                  <a:pt x="8615" y="14791"/>
                  <a:pt x="8754" y="14643"/>
                  <a:pt x="8882" y="14484"/>
                </a:cubicBezTo>
                <a:cubicBezTo>
                  <a:pt x="9329" y="13949"/>
                  <a:pt x="9725" y="13374"/>
                  <a:pt x="10062" y="12759"/>
                </a:cubicBezTo>
                <a:cubicBezTo>
                  <a:pt x="10925" y="11193"/>
                  <a:pt x="11411" y="9389"/>
                  <a:pt x="11411" y="7466"/>
                </a:cubicBezTo>
                <a:cubicBezTo>
                  <a:pt x="11411" y="7188"/>
                  <a:pt x="11400" y="6911"/>
                  <a:pt x="11381" y="6643"/>
                </a:cubicBezTo>
                <a:cubicBezTo>
                  <a:pt x="11193" y="4085"/>
                  <a:pt x="10131" y="1776"/>
                  <a:pt x="8486" y="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0" dist="38100" dir="2700000" sx="103000" sy="103000" algn="t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lt1"/>
              </a:solidFill>
              <a:latin typeface="汉仪君黑-45简" panose="020B0604020202020204" charset="-122"/>
              <a:ea typeface="汉仪君黑-45简" panose="020B0604020202020204" charset="-122"/>
              <a:sym typeface="Arial" panose="020B0604020202020204"/>
            </a:endParaRPr>
          </a:p>
        </p:txBody>
      </p:sp>
      <p:sp>
        <p:nvSpPr>
          <p:cNvPr id="26" name="文本框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38655" y="2016760"/>
            <a:ext cx="3131185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了解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SonarQube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的核心功能和优势</a:t>
            </a:r>
          </a:p>
        </p:txBody>
      </p:sp>
      <p:sp>
        <p:nvSpPr>
          <p:cNvPr id="28" name="文本框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0095" y="2016760"/>
            <a:ext cx="909320" cy="7385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8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01</a:t>
            </a:r>
            <a:endParaRPr lang="zh-CN" altLang="en-US" sz="48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lt"/>
            </a:endParaRPr>
          </a:p>
        </p:txBody>
      </p:sp>
      <p:sp>
        <p:nvSpPr>
          <p:cNvPr id="13" name="任意多边形"/>
          <p:cNvSpPr/>
          <p:nvPr>
            <p:custDataLst>
              <p:tags r:id="rId6"/>
            </p:custDataLst>
          </p:nvPr>
        </p:nvSpPr>
        <p:spPr>
          <a:xfrm>
            <a:off x="1274445" y="3877310"/>
            <a:ext cx="3923665" cy="1141095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0" dist="38100" dir="2700000" sx="103000" sy="103000" algn="t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汉仪君黑-45简" panose="020B0604020202020204" charset="-122"/>
              <a:ea typeface="汉仪君黑-45简" panose="020B0604020202020204" charset="-122"/>
              <a:sym typeface="Arial" panose="020B0604020202020204"/>
            </a:endParaRPr>
          </a:p>
        </p:txBody>
      </p:sp>
      <p:sp>
        <p:nvSpPr>
          <p:cNvPr id="14" name="任意多边形"/>
          <p:cNvSpPr/>
          <p:nvPr>
            <p:custDataLst>
              <p:tags r:id="rId7"/>
            </p:custDataLst>
          </p:nvPr>
        </p:nvSpPr>
        <p:spPr>
          <a:xfrm>
            <a:off x="661670" y="3877310"/>
            <a:ext cx="1236980" cy="1141095"/>
          </a:xfrm>
          <a:custGeom>
            <a:avLst/>
            <a:gdLst/>
            <a:ahLst/>
            <a:cxnLst/>
            <a:rect l="l" t="t" r="r" b="b"/>
            <a:pathLst>
              <a:path w="11411" h="14941" extrusionOk="0">
                <a:moveTo>
                  <a:pt x="2092" y="1"/>
                </a:moveTo>
                <a:cubicBezTo>
                  <a:pt x="942" y="1"/>
                  <a:pt x="0" y="943"/>
                  <a:pt x="0" y="2093"/>
                </a:cubicBezTo>
                <a:lnTo>
                  <a:pt x="0" y="12858"/>
                </a:lnTo>
                <a:cubicBezTo>
                  <a:pt x="0" y="14008"/>
                  <a:pt x="942" y="14940"/>
                  <a:pt x="2092" y="14940"/>
                </a:cubicBezTo>
                <a:lnTo>
                  <a:pt x="8476" y="14940"/>
                </a:lnTo>
                <a:cubicBezTo>
                  <a:pt x="8615" y="14791"/>
                  <a:pt x="8754" y="14643"/>
                  <a:pt x="8882" y="14484"/>
                </a:cubicBezTo>
                <a:cubicBezTo>
                  <a:pt x="9329" y="13949"/>
                  <a:pt x="9725" y="13374"/>
                  <a:pt x="10062" y="12759"/>
                </a:cubicBezTo>
                <a:cubicBezTo>
                  <a:pt x="10925" y="11193"/>
                  <a:pt x="11411" y="9389"/>
                  <a:pt x="11411" y="7466"/>
                </a:cubicBezTo>
                <a:cubicBezTo>
                  <a:pt x="11411" y="7188"/>
                  <a:pt x="11400" y="6911"/>
                  <a:pt x="11381" y="6643"/>
                </a:cubicBezTo>
                <a:cubicBezTo>
                  <a:pt x="11193" y="4085"/>
                  <a:pt x="10131" y="1776"/>
                  <a:pt x="8486" y="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0" dist="38100" dir="2700000" sx="103000" sy="103000" algn="t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lt1"/>
              </a:solidFill>
              <a:latin typeface="汉仪君黑-45简" panose="020B0604020202020204" charset="-122"/>
              <a:ea typeface="汉仪君黑-45简" panose="020B0604020202020204" charset="-122"/>
              <a:sym typeface="Arial" panose="020B0604020202020204"/>
            </a:endParaRPr>
          </a:p>
        </p:txBody>
      </p:sp>
      <p:sp>
        <p:nvSpPr>
          <p:cNvPr id="15" name="文本框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938655" y="4124325"/>
            <a:ext cx="3131185" cy="61531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借助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SonarQube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，了解静态代码分析技术原理</a:t>
            </a:r>
          </a:p>
        </p:txBody>
      </p:sp>
      <p:sp>
        <p:nvSpPr>
          <p:cNvPr id="16" name="文本框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60095" y="4124325"/>
            <a:ext cx="909320" cy="7385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8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03</a:t>
            </a:r>
            <a:endParaRPr lang="zh-CN" altLang="en-US" sz="48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lt"/>
            </a:endParaRPr>
          </a:p>
        </p:txBody>
      </p:sp>
      <p:sp>
        <p:nvSpPr>
          <p:cNvPr id="17" name="任意多边形"/>
          <p:cNvSpPr/>
          <p:nvPr>
            <p:custDataLst>
              <p:tags r:id="rId10"/>
            </p:custDataLst>
          </p:nvPr>
        </p:nvSpPr>
        <p:spPr>
          <a:xfrm>
            <a:off x="7136765" y="1769745"/>
            <a:ext cx="3923665" cy="1141095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0" dist="38100" dir="2700000" sx="103000" sy="103000" algn="t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汉仪君黑-45简" panose="020B0604020202020204" charset="-122"/>
              <a:ea typeface="汉仪君黑-45简" panose="020B0604020202020204" charset="-122"/>
              <a:sym typeface="Arial" panose="020B0604020202020204"/>
            </a:endParaRPr>
          </a:p>
        </p:txBody>
      </p:sp>
      <p:sp>
        <p:nvSpPr>
          <p:cNvPr id="18" name="任意多边形"/>
          <p:cNvSpPr/>
          <p:nvPr>
            <p:custDataLst>
              <p:tags r:id="rId11"/>
            </p:custDataLst>
          </p:nvPr>
        </p:nvSpPr>
        <p:spPr>
          <a:xfrm>
            <a:off x="6523990" y="1769745"/>
            <a:ext cx="1236980" cy="1141095"/>
          </a:xfrm>
          <a:custGeom>
            <a:avLst/>
            <a:gdLst/>
            <a:ahLst/>
            <a:cxnLst/>
            <a:rect l="l" t="t" r="r" b="b"/>
            <a:pathLst>
              <a:path w="11411" h="14941" extrusionOk="0">
                <a:moveTo>
                  <a:pt x="2092" y="1"/>
                </a:moveTo>
                <a:cubicBezTo>
                  <a:pt x="942" y="1"/>
                  <a:pt x="0" y="943"/>
                  <a:pt x="0" y="2093"/>
                </a:cubicBezTo>
                <a:lnTo>
                  <a:pt x="0" y="12858"/>
                </a:lnTo>
                <a:cubicBezTo>
                  <a:pt x="0" y="14008"/>
                  <a:pt x="942" y="14940"/>
                  <a:pt x="2092" y="14940"/>
                </a:cubicBezTo>
                <a:lnTo>
                  <a:pt x="8476" y="14940"/>
                </a:lnTo>
                <a:cubicBezTo>
                  <a:pt x="8615" y="14791"/>
                  <a:pt x="8754" y="14643"/>
                  <a:pt x="8882" y="14484"/>
                </a:cubicBezTo>
                <a:cubicBezTo>
                  <a:pt x="9329" y="13949"/>
                  <a:pt x="9725" y="13374"/>
                  <a:pt x="10062" y="12759"/>
                </a:cubicBezTo>
                <a:cubicBezTo>
                  <a:pt x="10925" y="11193"/>
                  <a:pt x="11411" y="9389"/>
                  <a:pt x="11411" y="7466"/>
                </a:cubicBezTo>
                <a:cubicBezTo>
                  <a:pt x="11411" y="7188"/>
                  <a:pt x="11400" y="6911"/>
                  <a:pt x="11381" y="6643"/>
                </a:cubicBezTo>
                <a:cubicBezTo>
                  <a:pt x="11193" y="4085"/>
                  <a:pt x="10131" y="1776"/>
                  <a:pt x="8486" y="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0" dist="38100" dir="2700000" sx="103000" sy="103000" algn="t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lt1"/>
              </a:solidFill>
              <a:latin typeface="汉仪君黑-45简" panose="020B0604020202020204" charset="-122"/>
              <a:ea typeface="汉仪君黑-45简" panose="020B0604020202020204" charset="-122"/>
              <a:sym typeface="Arial" panose="020B0604020202020204"/>
            </a:endParaRPr>
          </a:p>
        </p:txBody>
      </p:sp>
      <p:sp>
        <p:nvSpPr>
          <p:cNvPr id="19" name="文本框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800975" y="2016760"/>
            <a:ext cx="3131185" cy="61531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掌握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SonarQube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的配置和使用方法</a:t>
            </a:r>
          </a:p>
        </p:txBody>
      </p:sp>
      <p:sp>
        <p:nvSpPr>
          <p:cNvPr id="20" name="文本框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622415" y="2016760"/>
            <a:ext cx="909320" cy="7385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8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02</a:t>
            </a:r>
            <a:endParaRPr lang="zh-CN" altLang="en-US" sz="48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lt"/>
            </a:endParaRPr>
          </a:p>
        </p:txBody>
      </p:sp>
      <p:sp>
        <p:nvSpPr>
          <p:cNvPr id="21" name="任意多边形"/>
          <p:cNvSpPr/>
          <p:nvPr>
            <p:custDataLst>
              <p:tags r:id="rId14"/>
            </p:custDataLst>
          </p:nvPr>
        </p:nvSpPr>
        <p:spPr>
          <a:xfrm>
            <a:off x="7136765" y="3848735"/>
            <a:ext cx="3923665" cy="1141095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0" dist="38100" dir="2700000" sx="103000" sy="103000" algn="t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汉仪君黑-45简" panose="020B0604020202020204" charset="-122"/>
              <a:ea typeface="汉仪君黑-45简" panose="020B0604020202020204" charset="-122"/>
              <a:sym typeface="Arial" panose="020B0604020202020204"/>
            </a:endParaRPr>
          </a:p>
        </p:txBody>
      </p:sp>
      <p:sp>
        <p:nvSpPr>
          <p:cNvPr id="22" name="任意多边形"/>
          <p:cNvSpPr/>
          <p:nvPr>
            <p:custDataLst>
              <p:tags r:id="rId15"/>
            </p:custDataLst>
          </p:nvPr>
        </p:nvSpPr>
        <p:spPr>
          <a:xfrm>
            <a:off x="6523990" y="3848735"/>
            <a:ext cx="1236980" cy="1141095"/>
          </a:xfrm>
          <a:custGeom>
            <a:avLst/>
            <a:gdLst/>
            <a:ahLst/>
            <a:cxnLst/>
            <a:rect l="l" t="t" r="r" b="b"/>
            <a:pathLst>
              <a:path w="11411" h="14941" extrusionOk="0">
                <a:moveTo>
                  <a:pt x="2092" y="1"/>
                </a:moveTo>
                <a:cubicBezTo>
                  <a:pt x="942" y="1"/>
                  <a:pt x="0" y="943"/>
                  <a:pt x="0" y="2093"/>
                </a:cubicBezTo>
                <a:lnTo>
                  <a:pt x="0" y="12858"/>
                </a:lnTo>
                <a:cubicBezTo>
                  <a:pt x="0" y="14008"/>
                  <a:pt x="942" y="14940"/>
                  <a:pt x="2092" y="14940"/>
                </a:cubicBezTo>
                <a:lnTo>
                  <a:pt x="8476" y="14940"/>
                </a:lnTo>
                <a:cubicBezTo>
                  <a:pt x="8615" y="14791"/>
                  <a:pt x="8754" y="14643"/>
                  <a:pt x="8882" y="14484"/>
                </a:cubicBezTo>
                <a:cubicBezTo>
                  <a:pt x="9329" y="13949"/>
                  <a:pt x="9725" y="13374"/>
                  <a:pt x="10062" y="12759"/>
                </a:cubicBezTo>
                <a:cubicBezTo>
                  <a:pt x="10925" y="11193"/>
                  <a:pt x="11411" y="9389"/>
                  <a:pt x="11411" y="7466"/>
                </a:cubicBezTo>
                <a:cubicBezTo>
                  <a:pt x="11411" y="7188"/>
                  <a:pt x="11400" y="6911"/>
                  <a:pt x="11381" y="6643"/>
                </a:cubicBezTo>
                <a:cubicBezTo>
                  <a:pt x="11193" y="4085"/>
                  <a:pt x="10131" y="1776"/>
                  <a:pt x="8486" y="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0" dist="38100" dir="2700000" sx="103000" sy="103000" algn="tl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lt1"/>
              </a:solidFill>
              <a:latin typeface="汉仪君黑-45简" panose="020B0604020202020204" charset="-122"/>
              <a:ea typeface="汉仪君黑-45简" panose="020B0604020202020204" charset="-122"/>
              <a:sym typeface="Arial" panose="020B0604020202020204"/>
            </a:endParaRPr>
          </a:p>
        </p:txBody>
      </p:sp>
      <p:sp>
        <p:nvSpPr>
          <p:cNvPr id="25" name="文本框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800975" y="4124325"/>
            <a:ext cx="3131185" cy="61531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评估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SonarQube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在实际项目中的应用效果</a:t>
            </a:r>
          </a:p>
        </p:txBody>
      </p:sp>
      <p:sp>
        <p:nvSpPr>
          <p:cNvPr id="29" name="文本框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622415" y="4095750"/>
            <a:ext cx="909320" cy="7385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8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04</a:t>
            </a:r>
            <a:endParaRPr lang="zh-CN" altLang="en-US" sz="48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lt"/>
            </a:endParaRPr>
          </a:p>
        </p:txBody>
      </p:sp>
      <p:pic>
        <p:nvPicPr>
          <p:cNvPr id="3" name="图片 2" descr="同济大学-logo-512px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PART-0</a:t>
            </a:r>
            <a:r>
              <a:t>2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4330700" y="2289810"/>
            <a:ext cx="3881120" cy="2117090"/>
          </a:xfrm>
        </p:spPr>
        <p:txBody>
          <a:bodyPr/>
          <a:lstStyle/>
          <a:p>
            <a:pPr algn="ctr"/>
            <a:r>
              <a:rPr lang="zh-CN" altLang="en-US" sz="6000">
                <a:solidFill>
                  <a:schemeClr val="tx1"/>
                </a:solidFill>
              </a:rPr>
              <a:t>功能与特点</a:t>
            </a:r>
          </a:p>
        </p:txBody>
      </p:sp>
      <p:pic>
        <p:nvPicPr>
          <p:cNvPr id="3" name="图片 2" descr="同济大学-logo-512p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pic>
        <p:nvPicPr>
          <p:cNvPr id="7" name="图片 6" descr="sonarqub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6200" y="1177925"/>
            <a:ext cx="4876800" cy="11906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95160" y="2720340"/>
            <a:ext cx="1845310" cy="2753360"/>
          </a:xfrm>
          <a:custGeom>
            <a:avLst/>
            <a:gdLst>
              <a:gd name="adj" fmla="val 9103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06" h="4336">
                <a:moveTo>
                  <a:pt x="265" y="0"/>
                </a:moveTo>
                <a:lnTo>
                  <a:pt x="801" y="0"/>
                </a:lnTo>
                <a:lnTo>
                  <a:pt x="802" y="15"/>
                </a:lnTo>
                <a:cubicBezTo>
                  <a:pt x="828" y="354"/>
                  <a:pt x="1111" y="621"/>
                  <a:pt x="1457" y="621"/>
                </a:cubicBezTo>
                <a:cubicBezTo>
                  <a:pt x="1802" y="621"/>
                  <a:pt x="2085" y="354"/>
                  <a:pt x="2111" y="15"/>
                </a:cubicBezTo>
                <a:lnTo>
                  <a:pt x="2112" y="0"/>
                </a:lnTo>
                <a:lnTo>
                  <a:pt x="2641" y="0"/>
                </a:lnTo>
                <a:cubicBezTo>
                  <a:pt x="2788" y="0"/>
                  <a:pt x="2906" y="118"/>
                  <a:pt x="2906" y="265"/>
                </a:cubicBezTo>
                <a:lnTo>
                  <a:pt x="2906" y="4071"/>
                </a:lnTo>
                <a:cubicBezTo>
                  <a:pt x="2906" y="4218"/>
                  <a:pt x="2788" y="4336"/>
                  <a:pt x="2641" y="4336"/>
                </a:cubicBezTo>
                <a:lnTo>
                  <a:pt x="265" y="4336"/>
                </a:lnTo>
                <a:cubicBezTo>
                  <a:pt x="118" y="4336"/>
                  <a:pt x="0" y="4218"/>
                  <a:pt x="0" y="4071"/>
                </a:cubicBezTo>
                <a:lnTo>
                  <a:pt x="0" y="265"/>
                </a:lnTo>
                <a:cubicBezTo>
                  <a:pt x="0" y="118"/>
                  <a:pt x="118" y="0"/>
                  <a:pt x="265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90000"/>
                  <a:lumOff val="10000"/>
                </a:schemeClr>
              </a:gs>
              <a:gs pos="100000">
                <a:schemeClr val="accent2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u="sng" dirty="0"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Shape 501"/>
          <p:cNvSpPr/>
          <p:nvPr>
            <p:custDataLst>
              <p:tags r:id="rId3"/>
            </p:custDataLst>
          </p:nvPr>
        </p:nvSpPr>
        <p:spPr>
          <a:xfrm>
            <a:off x="7568565" y="2348230"/>
            <a:ext cx="698500" cy="699770"/>
          </a:xfrm>
          <a:prstGeom prst="ellipse">
            <a:avLst/>
          </a:prstGeom>
          <a:gradFill>
            <a:gsLst>
              <a:gs pos="0">
                <a:schemeClr val="accent2">
                  <a:lumMod val="90000"/>
                  <a:lumOff val="10000"/>
                </a:schemeClr>
              </a:gs>
              <a:gs pos="100000">
                <a:schemeClr val="accent2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u="sng" dirty="0">
              <a:latin typeface="+mj-lt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81" name="直接连接符 180"/>
          <p:cNvCxnSpPr/>
          <p:nvPr>
            <p:custDataLst>
              <p:tags r:id="rId4"/>
            </p:custDataLst>
          </p:nvPr>
        </p:nvCxnSpPr>
        <p:spPr>
          <a:xfrm>
            <a:off x="7729855" y="3752850"/>
            <a:ext cx="367665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7252335" y="3771900"/>
            <a:ext cx="1445260" cy="13328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能分析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Java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、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JavaScript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、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C#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、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C/C++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、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Python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、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PHP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等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27+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种编程语言</a:t>
            </a: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7282180" y="3314065"/>
            <a:ext cx="1330960" cy="29972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多语言支持</a:t>
            </a:r>
          </a:p>
        </p:txBody>
      </p:sp>
      <p:sp>
        <p:nvSpPr>
          <p:cNvPr id="6" name="任意多边形 5"/>
          <p:cNvSpPr/>
          <p:nvPr>
            <p:custDataLst>
              <p:tags r:id="rId7"/>
            </p:custDataLst>
          </p:nvPr>
        </p:nvSpPr>
        <p:spPr>
          <a:xfrm>
            <a:off x="5092700" y="2719705"/>
            <a:ext cx="1845310" cy="2753360"/>
          </a:xfrm>
          <a:custGeom>
            <a:avLst/>
            <a:gdLst>
              <a:gd name="adj" fmla="val 9103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06" h="4336">
                <a:moveTo>
                  <a:pt x="265" y="0"/>
                </a:moveTo>
                <a:lnTo>
                  <a:pt x="801" y="0"/>
                </a:lnTo>
                <a:lnTo>
                  <a:pt x="802" y="15"/>
                </a:lnTo>
                <a:cubicBezTo>
                  <a:pt x="828" y="354"/>
                  <a:pt x="1111" y="621"/>
                  <a:pt x="1457" y="621"/>
                </a:cubicBezTo>
                <a:cubicBezTo>
                  <a:pt x="1802" y="621"/>
                  <a:pt x="2085" y="354"/>
                  <a:pt x="2111" y="15"/>
                </a:cubicBezTo>
                <a:lnTo>
                  <a:pt x="2112" y="0"/>
                </a:lnTo>
                <a:lnTo>
                  <a:pt x="2641" y="0"/>
                </a:lnTo>
                <a:cubicBezTo>
                  <a:pt x="2788" y="0"/>
                  <a:pt x="2906" y="118"/>
                  <a:pt x="2906" y="265"/>
                </a:cubicBezTo>
                <a:lnTo>
                  <a:pt x="2906" y="4071"/>
                </a:lnTo>
                <a:cubicBezTo>
                  <a:pt x="2906" y="4218"/>
                  <a:pt x="2788" y="4336"/>
                  <a:pt x="2641" y="4336"/>
                </a:cubicBezTo>
                <a:lnTo>
                  <a:pt x="265" y="4336"/>
                </a:lnTo>
                <a:cubicBezTo>
                  <a:pt x="118" y="4336"/>
                  <a:pt x="0" y="4218"/>
                  <a:pt x="0" y="4071"/>
                </a:cubicBezTo>
                <a:lnTo>
                  <a:pt x="0" y="265"/>
                </a:lnTo>
                <a:cubicBezTo>
                  <a:pt x="0" y="118"/>
                  <a:pt x="118" y="0"/>
                  <a:pt x="26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Shape 501"/>
          <p:cNvSpPr/>
          <p:nvPr>
            <p:custDataLst>
              <p:tags r:id="rId8"/>
            </p:custDataLst>
          </p:nvPr>
        </p:nvSpPr>
        <p:spPr>
          <a:xfrm>
            <a:off x="5666105" y="2348230"/>
            <a:ext cx="698500" cy="699770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23" name="直接连接符 122"/>
          <p:cNvCxnSpPr/>
          <p:nvPr>
            <p:custDataLst>
              <p:tags r:id="rId9"/>
            </p:custDataLst>
          </p:nvPr>
        </p:nvCxnSpPr>
        <p:spPr>
          <a:xfrm>
            <a:off x="5836285" y="3740150"/>
            <a:ext cx="367665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5349875" y="3771900"/>
            <a:ext cx="1330960" cy="13341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量化和可视化维护问题，计算修复所需的时间成本</a:t>
            </a:r>
          </a:p>
        </p:txBody>
      </p:sp>
      <p:sp>
        <p:nvSpPr>
          <p:cNvPr id="15" name="矩形 14"/>
          <p:cNvSpPr/>
          <p:nvPr>
            <p:custDataLst>
              <p:tags r:id="rId11"/>
            </p:custDataLst>
          </p:nvPr>
        </p:nvSpPr>
        <p:spPr>
          <a:xfrm>
            <a:off x="5298440" y="3314065"/>
            <a:ext cx="1442720" cy="27305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技术债务管理</a:t>
            </a:r>
          </a:p>
        </p:txBody>
      </p:sp>
      <p:sp>
        <p:nvSpPr>
          <p:cNvPr id="202" name="任意多边形 201"/>
          <p:cNvSpPr/>
          <p:nvPr>
            <p:custDataLst>
              <p:tags r:id="rId12"/>
            </p:custDataLst>
          </p:nvPr>
        </p:nvSpPr>
        <p:spPr>
          <a:xfrm>
            <a:off x="1287780" y="2719070"/>
            <a:ext cx="1845310" cy="2753995"/>
          </a:xfrm>
          <a:custGeom>
            <a:avLst/>
            <a:gdLst>
              <a:gd name="adj" fmla="val 9103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06" h="4336">
                <a:moveTo>
                  <a:pt x="265" y="0"/>
                </a:moveTo>
                <a:lnTo>
                  <a:pt x="801" y="0"/>
                </a:lnTo>
                <a:lnTo>
                  <a:pt x="802" y="15"/>
                </a:lnTo>
                <a:cubicBezTo>
                  <a:pt x="828" y="354"/>
                  <a:pt x="1111" y="621"/>
                  <a:pt x="1457" y="621"/>
                </a:cubicBezTo>
                <a:cubicBezTo>
                  <a:pt x="1802" y="621"/>
                  <a:pt x="2085" y="354"/>
                  <a:pt x="2111" y="15"/>
                </a:cubicBezTo>
                <a:lnTo>
                  <a:pt x="2112" y="0"/>
                </a:lnTo>
                <a:lnTo>
                  <a:pt x="2641" y="0"/>
                </a:lnTo>
                <a:cubicBezTo>
                  <a:pt x="2788" y="0"/>
                  <a:pt x="2906" y="118"/>
                  <a:pt x="2906" y="265"/>
                </a:cubicBezTo>
                <a:lnTo>
                  <a:pt x="2906" y="4071"/>
                </a:lnTo>
                <a:cubicBezTo>
                  <a:pt x="2906" y="4218"/>
                  <a:pt x="2788" y="4336"/>
                  <a:pt x="2641" y="4336"/>
                </a:cubicBezTo>
                <a:lnTo>
                  <a:pt x="265" y="4336"/>
                </a:lnTo>
                <a:cubicBezTo>
                  <a:pt x="118" y="4336"/>
                  <a:pt x="0" y="4218"/>
                  <a:pt x="0" y="4071"/>
                </a:cubicBezTo>
                <a:lnTo>
                  <a:pt x="0" y="265"/>
                </a:lnTo>
                <a:cubicBezTo>
                  <a:pt x="0" y="118"/>
                  <a:pt x="118" y="0"/>
                  <a:pt x="26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7" name="Shape 501"/>
          <p:cNvSpPr/>
          <p:nvPr>
            <p:custDataLst>
              <p:tags r:id="rId13"/>
            </p:custDataLst>
          </p:nvPr>
        </p:nvSpPr>
        <p:spPr>
          <a:xfrm>
            <a:off x="1861185" y="2366645"/>
            <a:ext cx="698500" cy="699770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30" name="直接连接符 129"/>
          <p:cNvCxnSpPr/>
          <p:nvPr>
            <p:custDataLst>
              <p:tags r:id="rId14"/>
            </p:custDataLst>
          </p:nvPr>
        </p:nvCxnSpPr>
        <p:spPr>
          <a:xfrm>
            <a:off x="2040890" y="3740150"/>
            <a:ext cx="367665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>
            <p:custDataLst>
              <p:tags r:id="rId15"/>
            </p:custDataLst>
          </p:nvPr>
        </p:nvSpPr>
        <p:spPr>
          <a:xfrm>
            <a:off x="1544955" y="3770630"/>
            <a:ext cx="1417320" cy="13347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FF"/>
                </a:solidFill>
                <a:latin typeface="+mn-ea"/>
                <a:cs typeface="+mn-ea"/>
              </a:rPr>
              <a:t>将代码问题分为</a:t>
            </a:r>
            <a:r>
              <a:rPr lang="en-US" altLang="zh-CN" sz="1400" dirty="0">
                <a:solidFill>
                  <a:srgbClr val="FFFFFF"/>
                </a:solidFill>
                <a:latin typeface="+mn-ea"/>
                <a:cs typeface="+mn-ea"/>
              </a:rPr>
              <a:t>Bugs</a:t>
            </a:r>
            <a:r>
              <a:rPr lang="zh-CN" altLang="en-US" sz="1400" dirty="0">
                <a:solidFill>
                  <a:srgbClr val="FFFFFF"/>
                </a:solidFill>
                <a:latin typeface="+mn-ea"/>
                <a:cs typeface="+mn-ea"/>
              </a:rPr>
              <a:t>、漏洞和代码气味</a:t>
            </a:r>
          </a:p>
        </p:txBody>
      </p:sp>
      <p:sp>
        <p:nvSpPr>
          <p:cNvPr id="17" name="矩形 16"/>
          <p:cNvSpPr/>
          <p:nvPr>
            <p:custDataLst>
              <p:tags r:id="rId16"/>
            </p:custDataLst>
          </p:nvPr>
        </p:nvSpPr>
        <p:spPr>
          <a:xfrm>
            <a:off x="1544320" y="3268980"/>
            <a:ext cx="1474470" cy="3200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代码问题分类</a:t>
            </a:r>
          </a:p>
        </p:txBody>
      </p:sp>
      <p:sp>
        <p:nvSpPr>
          <p:cNvPr id="10" name="任意多边形 9"/>
          <p:cNvSpPr/>
          <p:nvPr>
            <p:custDataLst>
              <p:tags r:id="rId17"/>
            </p:custDataLst>
          </p:nvPr>
        </p:nvSpPr>
        <p:spPr>
          <a:xfrm>
            <a:off x="8897620" y="2718435"/>
            <a:ext cx="1845310" cy="2753360"/>
          </a:xfrm>
          <a:custGeom>
            <a:avLst/>
            <a:gdLst>
              <a:gd name="adj" fmla="val 9103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06" h="4336">
                <a:moveTo>
                  <a:pt x="265" y="0"/>
                </a:moveTo>
                <a:lnTo>
                  <a:pt x="801" y="0"/>
                </a:lnTo>
                <a:lnTo>
                  <a:pt x="802" y="15"/>
                </a:lnTo>
                <a:cubicBezTo>
                  <a:pt x="828" y="354"/>
                  <a:pt x="1111" y="621"/>
                  <a:pt x="1457" y="621"/>
                </a:cubicBezTo>
                <a:cubicBezTo>
                  <a:pt x="1802" y="621"/>
                  <a:pt x="2085" y="354"/>
                  <a:pt x="2111" y="15"/>
                </a:cubicBezTo>
                <a:lnTo>
                  <a:pt x="2112" y="0"/>
                </a:lnTo>
                <a:lnTo>
                  <a:pt x="2641" y="0"/>
                </a:lnTo>
                <a:cubicBezTo>
                  <a:pt x="2788" y="0"/>
                  <a:pt x="2906" y="118"/>
                  <a:pt x="2906" y="265"/>
                </a:cubicBezTo>
                <a:lnTo>
                  <a:pt x="2906" y="4071"/>
                </a:lnTo>
                <a:cubicBezTo>
                  <a:pt x="2906" y="4218"/>
                  <a:pt x="2788" y="4336"/>
                  <a:pt x="2641" y="4336"/>
                </a:cubicBezTo>
                <a:lnTo>
                  <a:pt x="265" y="4336"/>
                </a:lnTo>
                <a:cubicBezTo>
                  <a:pt x="118" y="4336"/>
                  <a:pt x="0" y="4218"/>
                  <a:pt x="0" y="4071"/>
                </a:cubicBezTo>
                <a:lnTo>
                  <a:pt x="0" y="265"/>
                </a:lnTo>
                <a:cubicBezTo>
                  <a:pt x="0" y="118"/>
                  <a:pt x="118" y="0"/>
                  <a:pt x="26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Shape 501"/>
          <p:cNvSpPr/>
          <p:nvPr>
            <p:custDataLst>
              <p:tags r:id="rId18"/>
            </p:custDataLst>
          </p:nvPr>
        </p:nvSpPr>
        <p:spPr>
          <a:xfrm>
            <a:off x="9471025" y="2348230"/>
            <a:ext cx="698500" cy="699770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38" name="直接连接符 137"/>
          <p:cNvCxnSpPr/>
          <p:nvPr>
            <p:custDataLst>
              <p:tags r:id="rId19"/>
            </p:custDataLst>
          </p:nvPr>
        </p:nvCxnSpPr>
        <p:spPr>
          <a:xfrm>
            <a:off x="9636760" y="3750945"/>
            <a:ext cx="367665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20"/>
            </p:custDataLst>
          </p:nvPr>
        </p:nvSpPr>
        <p:spPr>
          <a:xfrm>
            <a:off x="9011920" y="3771900"/>
            <a:ext cx="1573530" cy="13398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提供可靠性指标、安全性指标、可维护性指标及规模指标</a:t>
            </a:r>
          </a:p>
        </p:txBody>
      </p:sp>
      <p:sp>
        <p:nvSpPr>
          <p:cNvPr id="19" name="矩形 18"/>
          <p:cNvSpPr/>
          <p:nvPr>
            <p:custDataLst>
              <p:tags r:id="rId21"/>
            </p:custDataLst>
          </p:nvPr>
        </p:nvSpPr>
        <p:spPr>
          <a:xfrm>
            <a:off x="9154795" y="3314065"/>
            <a:ext cx="1388745" cy="34734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全面质量指标</a:t>
            </a:r>
          </a:p>
        </p:txBody>
      </p:sp>
      <p:sp>
        <p:nvSpPr>
          <p:cNvPr id="8" name="任意多边形 7"/>
          <p:cNvSpPr/>
          <p:nvPr>
            <p:custDataLst>
              <p:tags r:id="rId22"/>
            </p:custDataLst>
          </p:nvPr>
        </p:nvSpPr>
        <p:spPr>
          <a:xfrm>
            <a:off x="3190240" y="2719705"/>
            <a:ext cx="1845310" cy="2753360"/>
          </a:xfrm>
          <a:custGeom>
            <a:avLst/>
            <a:gdLst>
              <a:gd name="adj" fmla="val 9103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06" h="4336">
                <a:moveTo>
                  <a:pt x="265" y="0"/>
                </a:moveTo>
                <a:lnTo>
                  <a:pt x="801" y="0"/>
                </a:lnTo>
                <a:lnTo>
                  <a:pt x="802" y="15"/>
                </a:lnTo>
                <a:cubicBezTo>
                  <a:pt x="828" y="354"/>
                  <a:pt x="1111" y="621"/>
                  <a:pt x="1457" y="621"/>
                </a:cubicBezTo>
                <a:cubicBezTo>
                  <a:pt x="1802" y="621"/>
                  <a:pt x="2085" y="354"/>
                  <a:pt x="2111" y="15"/>
                </a:cubicBezTo>
                <a:lnTo>
                  <a:pt x="2112" y="0"/>
                </a:lnTo>
                <a:lnTo>
                  <a:pt x="2641" y="0"/>
                </a:lnTo>
                <a:cubicBezTo>
                  <a:pt x="2788" y="0"/>
                  <a:pt x="2906" y="118"/>
                  <a:pt x="2906" y="265"/>
                </a:cubicBezTo>
                <a:lnTo>
                  <a:pt x="2906" y="4071"/>
                </a:lnTo>
                <a:cubicBezTo>
                  <a:pt x="2906" y="4218"/>
                  <a:pt x="2788" y="4336"/>
                  <a:pt x="2641" y="4336"/>
                </a:cubicBezTo>
                <a:lnTo>
                  <a:pt x="265" y="4336"/>
                </a:lnTo>
                <a:cubicBezTo>
                  <a:pt x="118" y="4336"/>
                  <a:pt x="0" y="4218"/>
                  <a:pt x="0" y="4071"/>
                </a:cubicBezTo>
                <a:lnTo>
                  <a:pt x="0" y="265"/>
                </a:lnTo>
                <a:cubicBezTo>
                  <a:pt x="0" y="118"/>
                  <a:pt x="118" y="0"/>
                  <a:pt x="265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90000"/>
                  <a:lumOff val="10000"/>
                </a:schemeClr>
              </a:gs>
              <a:gs pos="100000">
                <a:schemeClr val="accent2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u="sng" dirty="0"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Shape 501"/>
          <p:cNvSpPr/>
          <p:nvPr>
            <p:custDataLst>
              <p:tags r:id="rId23"/>
            </p:custDataLst>
          </p:nvPr>
        </p:nvSpPr>
        <p:spPr>
          <a:xfrm>
            <a:off x="3763645" y="2348230"/>
            <a:ext cx="698500" cy="699770"/>
          </a:xfrm>
          <a:prstGeom prst="ellipse">
            <a:avLst/>
          </a:prstGeom>
          <a:gradFill>
            <a:gsLst>
              <a:gs pos="0">
                <a:schemeClr val="accent2">
                  <a:lumMod val="90000"/>
                  <a:lumOff val="10000"/>
                </a:schemeClr>
              </a:gs>
              <a:gs pos="100000">
                <a:schemeClr val="accent2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u="sng" dirty="0">
              <a:latin typeface="+mj-lt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74" name="直接连接符 73"/>
          <p:cNvCxnSpPr/>
          <p:nvPr>
            <p:custDataLst>
              <p:tags r:id="rId24"/>
            </p:custDataLst>
          </p:nvPr>
        </p:nvCxnSpPr>
        <p:spPr>
          <a:xfrm>
            <a:off x="3986530" y="3740150"/>
            <a:ext cx="367665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>
            <p:custDataLst>
              <p:tags r:id="rId25"/>
            </p:custDataLst>
          </p:nvPr>
        </p:nvSpPr>
        <p:spPr>
          <a:xfrm>
            <a:off x="3447415" y="3740785"/>
            <a:ext cx="1445895" cy="13652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定义项目必须达到的质量标准，自动判断构建是否通过质量检查</a:t>
            </a:r>
          </a:p>
        </p:txBody>
      </p:sp>
      <p:sp>
        <p:nvSpPr>
          <p:cNvPr id="21" name="矩形 20"/>
          <p:cNvSpPr/>
          <p:nvPr>
            <p:custDataLst>
              <p:tags r:id="rId26"/>
            </p:custDataLst>
          </p:nvPr>
        </p:nvSpPr>
        <p:spPr>
          <a:xfrm>
            <a:off x="3423920" y="3255010"/>
            <a:ext cx="1469390" cy="33401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</a:rPr>
              <a:t>质量门限功能</a:t>
            </a:r>
          </a:p>
        </p:txBody>
      </p:sp>
      <p:pic>
        <p:nvPicPr>
          <p:cNvPr id="40" name="图片 16" descr="343439383331313b343532303033323bd3a6d3c3b9dcc0ed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029800" y="2535895"/>
            <a:ext cx="360000" cy="360000"/>
          </a:xfrm>
          <a:prstGeom prst="rect">
            <a:avLst/>
          </a:prstGeom>
        </p:spPr>
      </p:pic>
      <p:pic>
        <p:nvPicPr>
          <p:cNvPr id="39" name="图片 3" descr="343439383331313b343532303031393bd2b5bca8b9dcc0ed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932895" y="2518115"/>
            <a:ext cx="360000" cy="360000"/>
          </a:xfrm>
          <a:prstGeom prst="rect">
            <a:avLst/>
          </a:prstGeom>
        </p:spPr>
      </p:pic>
      <p:pic>
        <p:nvPicPr>
          <p:cNvPr id="41" name="图片 4" descr="343439383331313b343532303032303bb8f6c8cbd0c5cfa2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835355" y="2518115"/>
            <a:ext cx="360000" cy="360000"/>
          </a:xfrm>
          <a:prstGeom prst="rect">
            <a:avLst/>
          </a:prstGeom>
        </p:spPr>
      </p:pic>
      <p:pic>
        <p:nvPicPr>
          <p:cNvPr id="43" name="图片 12" descr="343439383331313b343532303032383bbfcdbba7b9dcc0ed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7737815" y="2518115"/>
            <a:ext cx="360000" cy="360000"/>
          </a:xfrm>
          <a:prstGeom prst="rect">
            <a:avLst/>
          </a:prstGeom>
        </p:spPr>
      </p:pic>
      <p:pic>
        <p:nvPicPr>
          <p:cNvPr id="44" name="图片 8" descr="343439383331313b343532303032343bb7a2b2bcb9dcc0ed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622275" y="2500115"/>
            <a:ext cx="360000" cy="360000"/>
          </a:xfrm>
          <a:prstGeom prst="rect">
            <a:avLst/>
          </a:prstGeom>
        </p:spPr>
      </p:pic>
      <p:grpSp>
        <p:nvGrpSpPr>
          <p:cNvPr id="111" name="组合 110"/>
          <p:cNvGrpSpPr/>
          <p:nvPr/>
        </p:nvGrpSpPr>
        <p:grpSpPr>
          <a:xfrm>
            <a:off x="2686301" y="594421"/>
            <a:ext cx="7019491" cy="583565"/>
            <a:chOff x="1949785" y="448308"/>
            <a:chExt cx="5265918" cy="437782"/>
          </a:xfrm>
        </p:grpSpPr>
        <p:sp>
          <p:nvSpPr>
            <p:cNvPr id="112" name="文本框 111"/>
            <p:cNvSpPr txBox="1"/>
            <p:nvPr/>
          </p:nvSpPr>
          <p:spPr>
            <a:xfrm>
              <a:off x="3369352" y="448308"/>
              <a:ext cx="2426784" cy="437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kumimoji="1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defRPr>
              </a:lvl1pPr>
            </a:lstStyle>
            <a:p>
              <a:r>
                <a:rPr lang="zh-CN" altLang="en-US" sz="3200" dirty="0">
                  <a:sym typeface="+mn-lt"/>
                </a:rPr>
                <a:t>功能特点</a:t>
              </a:r>
            </a:p>
          </p:txBody>
        </p:sp>
        <p:sp>
          <p:nvSpPr>
            <p:cNvPr id="113" name="矩形 112"/>
            <p:cNvSpPr/>
            <p:nvPr/>
          </p:nvSpPr>
          <p:spPr>
            <a:xfrm>
              <a:off x="1949785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5955563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6" name="图片 25" descr="sonarqube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886200" y="1177925"/>
            <a:ext cx="4876800" cy="11906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>
            <a:normAutofit/>
          </a:bodyPr>
          <a:lstStyle/>
          <a:p>
            <a:r>
              <a:rPr>
                <a:ea typeface="宋体" panose="02010600030101010101" pitchFamily="2" charset="-122"/>
              </a:rPr>
              <a:t>系统架构</a:t>
            </a: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46455" y="1610995"/>
            <a:ext cx="8872855" cy="403606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000" b="1"/>
              <a:t>服务端组件：</a:t>
            </a:r>
            <a:r>
              <a:rPr lang="zh-CN" altLang="en-US" sz="2000"/>
              <a:t> 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en-US" altLang="zh-CN" sz="2000"/>
              <a:t>-Web</a:t>
            </a:r>
            <a:r>
              <a:rPr lang="zh-CN" altLang="en-US" sz="2000"/>
              <a:t>服务器：提供用户界面和</a:t>
            </a:r>
            <a:r>
              <a:rPr lang="en-US" altLang="zh-CN" sz="2000"/>
              <a:t>API</a:t>
            </a:r>
            <a:r>
              <a:rPr lang="zh-CN" altLang="en-US" sz="2000"/>
              <a:t>接口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en-US" altLang="zh-CN" sz="2000"/>
              <a:t>-</a:t>
            </a:r>
            <a:r>
              <a:rPr lang="zh-CN" altLang="en-US" sz="2000"/>
              <a:t>搜索服务器：基于</a:t>
            </a:r>
            <a:r>
              <a:rPr lang="en-US" altLang="zh-CN" sz="2000"/>
              <a:t>Elasticsearch</a:t>
            </a:r>
            <a:r>
              <a:rPr lang="zh-CN" altLang="en-US" sz="2000"/>
              <a:t>，支持高效检索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en-US" altLang="zh-CN" sz="2000"/>
              <a:t>-</a:t>
            </a:r>
            <a:r>
              <a:rPr lang="zh-CN" altLang="en-US" sz="2000"/>
              <a:t>计算引擎</a:t>
            </a:r>
            <a:r>
              <a:rPr lang="en-US" altLang="zh-CN" sz="2000"/>
              <a:t>(CE)</a:t>
            </a:r>
            <a:r>
              <a:rPr lang="zh-CN" altLang="en-US" sz="2000"/>
              <a:t>：处理分析结果并生成报告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en-US" altLang="zh-CN" sz="2000"/>
              <a:t>-</a:t>
            </a:r>
            <a:r>
              <a:rPr lang="zh-CN" altLang="en-US" sz="2000"/>
              <a:t>数据库：存储配置数据、分析结果和质量快照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2000" b="1"/>
              <a:t>客户端组件： 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en-US" altLang="zh-CN" sz="2000"/>
              <a:t>-</a:t>
            </a:r>
            <a:r>
              <a:rPr lang="zh-CN" altLang="en-US" sz="2000"/>
              <a:t>扫描器：在构建环境中执行，收集代码度量数据并发送到服务器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en-US" altLang="zh-CN" sz="2000"/>
              <a:t>-</a:t>
            </a:r>
            <a:r>
              <a:rPr lang="zh-CN" altLang="en-US" sz="2000"/>
              <a:t>插件系统：支持不同编程语言和功能扩展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idx="2"/>
          </p:nvPr>
        </p:nvSpPr>
        <p:spPr/>
        <p:txBody>
          <a:bodyPr>
            <a:normAutofit/>
          </a:bodyPr>
          <a:lstStyle/>
          <a:p>
            <a:r>
              <a:rPr>
                <a:ea typeface="宋体" panose="02010600030101010101" pitchFamily="2" charset="-122"/>
              </a:rPr>
              <a:t>工作过程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56285" y="1742440"/>
            <a:ext cx="9175750" cy="2347595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/>
              <a:t>1.</a:t>
            </a:r>
            <a:r>
              <a:rPr lang="zh-CN" altLang="en-US" sz="2000"/>
              <a:t>扫描器解析源代码，构建抽象语法树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2.</a:t>
            </a:r>
            <a:r>
              <a:rPr lang="zh-CN" altLang="en-US" sz="2000"/>
              <a:t>运用多种分析技术检测潜在问题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3.</a:t>
            </a:r>
            <a:r>
              <a:rPr lang="zh-CN" altLang="en-US" sz="2000"/>
              <a:t>将结果整合为可视化报告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*</a:t>
            </a:r>
            <a:r>
              <a:rPr lang="zh-CN" altLang="en-US" sz="2000"/>
              <a:t>分析技术包括：语法分析、语义分析、数据流分析、控制流分析和符号表分析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dirty="0">
                <a:ea typeface="宋体" panose="02010600030101010101" pitchFamily="2" charset="-122"/>
              </a:rPr>
              <a:t>内部机制</a:t>
            </a: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1515" y="1506220"/>
            <a:ext cx="9234170" cy="437388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000" b="1"/>
              <a:t>规则引擎</a:t>
            </a:r>
            <a:r>
              <a:rPr lang="zh-CN" altLang="en-US" sz="2000"/>
              <a:t>：核心组件，每条规则包含问题模式、严重性和修复成本信息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2000" b="1"/>
              <a:t>代码索引与存储：</a:t>
            </a:r>
            <a:r>
              <a:rPr lang="zh-CN" altLang="en-US" sz="2000"/>
              <a:t> 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Char char="•"/>
            </a:pPr>
            <a:r>
              <a:rPr lang="zh-CN" altLang="en-US" sz="2000"/>
              <a:t>使用</a:t>
            </a:r>
            <a:r>
              <a:rPr lang="en-US" altLang="zh-CN" sz="2000"/>
              <a:t>Elasticsearch</a:t>
            </a:r>
            <a:r>
              <a:rPr lang="zh-CN" altLang="en-US" sz="2000"/>
              <a:t>建立代码全文索引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Char char="•"/>
            </a:pPr>
            <a:r>
              <a:rPr lang="zh-CN" altLang="en-US" sz="2000"/>
              <a:t>支持增量分析提高效率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Char char="•"/>
            </a:pPr>
            <a:r>
              <a:rPr lang="zh-CN" altLang="en-US" sz="2000"/>
              <a:t>存储历史分析结果支持趋势分析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Char char="•"/>
            </a:pPr>
            <a:r>
              <a:rPr lang="zh-CN" altLang="en-US" sz="2000"/>
              <a:t>维护多层次项目组织结构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2000" b="1"/>
              <a:t>分析器实现：</a:t>
            </a:r>
            <a:r>
              <a:rPr lang="zh-CN" altLang="en-US" sz="2000"/>
              <a:t> 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Char char="•"/>
            </a:pPr>
            <a:r>
              <a:rPr lang="zh-CN" altLang="en-US" sz="2000"/>
              <a:t>通过构建和遍历抽象语法树实现分析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Char char="•"/>
            </a:pPr>
            <a:r>
              <a:rPr lang="zh-CN" altLang="en-US" sz="2000"/>
              <a:t>结合符号解析、数据流追踪、污点分析和跨文件分析等技术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25780" y="1536700"/>
            <a:ext cx="11181080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zh-CN" altLang="en-US" sz="2000" b="1"/>
              <a:t>资源消耗较高：</a:t>
            </a:r>
            <a:r>
              <a:rPr lang="en-US" altLang="zh-CN" sz="2000"/>
              <a:t>SonarQube</a:t>
            </a:r>
            <a:r>
              <a:rPr lang="zh-CN" altLang="en-US" sz="2000"/>
              <a:t>需要独立的服务器运行，对系统资源要求较高，特别是在大型项目分析时。</a:t>
            </a: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000" b="1"/>
              <a:t>语言支持深度不均：</a:t>
            </a:r>
            <a:r>
              <a:rPr lang="zh-CN" altLang="en-US" sz="2000"/>
              <a:t>虽然支持多种语言，但对不同语言的支持深度不一。主流语言如</a:t>
            </a:r>
            <a:r>
              <a:rPr lang="en-US" altLang="zh-CN" sz="2000"/>
              <a:t>Java</a:t>
            </a:r>
            <a:r>
              <a:rPr lang="zh-CN" altLang="en-US" sz="2000"/>
              <a:t>支持较好，其他语言可能分析能力有限。</a:t>
            </a: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000" b="1"/>
              <a:t>自定义规则门槛高：</a:t>
            </a:r>
            <a:r>
              <a:rPr lang="zh-CN" altLang="en-US" sz="2000"/>
              <a:t>创建自定义规则需要较强的技术背景，不如一些专注于单一语言的工具灵活。</a:t>
            </a: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000"/>
              <a:t>与</a:t>
            </a:r>
            <a:r>
              <a:rPr lang="en-US" altLang="zh-CN" sz="2000"/>
              <a:t>CI/CD</a:t>
            </a:r>
            <a:r>
              <a:rPr lang="zh-CN" altLang="en-US" sz="2000"/>
              <a:t>集成复杂度：与某些专注于开发流程的工具相比，集成过程可能需要更多工作。</a:t>
            </a: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000" b="1"/>
              <a:t>实时反馈不足：</a:t>
            </a:r>
            <a:r>
              <a:rPr lang="zh-CN" altLang="en-US" sz="2000"/>
              <a:t>相比</a:t>
            </a:r>
            <a:r>
              <a:rPr lang="en-US" altLang="zh-CN" sz="2000"/>
              <a:t>IDE</a:t>
            </a:r>
            <a:r>
              <a:rPr lang="zh-CN" altLang="en-US" sz="2000"/>
              <a:t>集成的轻量级工具，不能提供即时反馈，通常需要完成构建后才能看到结果。</a:t>
            </a:r>
          </a:p>
        </p:txBody>
      </p:sp>
      <p:grpSp>
        <p:nvGrpSpPr>
          <p:cNvPr id="111" name="组合 110"/>
          <p:cNvGrpSpPr/>
          <p:nvPr/>
        </p:nvGrpSpPr>
        <p:grpSpPr>
          <a:xfrm>
            <a:off x="2686301" y="594421"/>
            <a:ext cx="7019491" cy="583565"/>
            <a:chOff x="1949785" y="448308"/>
            <a:chExt cx="5265918" cy="437782"/>
          </a:xfrm>
        </p:grpSpPr>
        <p:sp>
          <p:nvSpPr>
            <p:cNvPr id="112" name="文本框 111"/>
            <p:cNvSpPr txBox="1"/>
            <p:nvPr/>
          </p:nvSpPr>
          <p:spPr>
            <a:xfrm>
              <a:off x="3296953" y="448308"/>
              <a:ext cx="2658607" cy="437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kumimoji="1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</a:defRPr>
              </a:lvl1pPr>
            </a:lstStyle>
            <a:p>
              <a:r>
                <a:rPr lang="en-US" altLang="zh-CN" sz="3200" dirty="0">
                  <a:sym typeface="+mn-lt"/>
                </a:rPr>
                <a:t>SonarQube</a:t>
              </a:r>
              <a:r>
                <a:rPr lang="zh-CN" altLang="en-US" sz="3200" dirty="0">
                  <a:sym typeface="+mn-lt"/>
                </a:rPr>
                <a:t>劣势</a:t>
              </a:r>
            </a:p>
          </p:txBody>
        </p:sp>
        <p:sp>
          <p:nvSpPr>
            <p:cNvPr id="113" name="矩形 112"/>
            <p:cNvSpPr/>
            <p:nvPr/>
          </p:nvSpPr>
          <p:spPr>
            <a:xfrm>
              <a:off x="1949785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5955563" y="664198"/>
              <a:ext cx="1260140" cy="7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PART-0</a:t>
            </a:r>
            <a:r>
              <a:t>3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4310380" y="2448560"/>
            <a:ext cx="3961765" cy="2117090"/>
          </a:xfrm>
        </p:spPr>
        <p:txBody>
          <a:bodyPr/>
          <a:lstStyle/>
          <a:p>
            <a:pPr algn="ctr"/>
            <a:r>
              <a:rPr lang="zh-CN" altLang="en-US" sz="4000"/>
              <a:t>使用方法</a:t>
            </a:r>
            <a:endParaRPr lang="en-US" altLang="zh-CN" sz="4000"/>
          </a:p>
        </p:txBody>
      </p:sp>
      <p:pic>
        <p:nvPicPr>
          <p:cNvPr id="3" name="图片 2" descr="同济大学-logo-512p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>
                <a:ea typeface="宋体" panose="02010600030101010101" pitchFamily="2" charset="-122"/>
              </a:rPr>
              <a:t>使用方法</a:t>
            </a: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037830" y="3752215"/>
            <a:ext cx="3235325" cy="73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lvl="0" algn="ctr" defTabSz="86677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将扫描命令集成到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Jenkins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、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GitLab CI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等平台的构建流程中，实现自动分析。。</a:t>
            </a:r>
          </a:p>
        </p:txBody>
      </p:sp>
      <p:sp>
        <p:nvSpPr>
          <p:cNvPr id="11" name="矩形: 圆角 10"/>
          <p:cNvSpPr/>
          <p:nvPr/>
        </p:nvSpPr>
        <p:spPr>
          <a:xfrm>
            <a:off x="1616774" y="1874997"/>
            <a:ext cx="2120860" cy="5949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rPr>
              <a:t>部署服务端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4988576" y="1874997"/>
            <a:ext cx="2120860" cy="5949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rPr>
              <a:t>安装扫描器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8536912" y="1874997"/>
            <a:ext cx="2120860" cy="5949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rPr>
              <a:t>配置项目</a:t>
            </a:r>
          </a:p>
        </p:txBody>
      </p:sp>
      <p:sp>
        <p:nvSpPr>
          <p:cNvPr id="5" name="矩形 4"/>
          <p:cNvSpPr/>
          <p:nvPr/>
        </p:nvSpPr>
        <p:spPr>
          <a:xfrm>
            <a:off x="1616710" y="2534285"/>
            <a:ext cx="2260600" cy="86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>
            <a:noAutofit/>
          </a:bodyPr>
          <a:lstStyle/>
          <a:p>
            <a:pPr lvl="0" algn="ctr" defTabSz="86677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选择适合团队规模的部署方式（单机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/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分布式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/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容器化），配置数据库和系统参数。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801745" y="1993265"/>
            <a:ext cx="1021715" cy="278765"/>
            <a:chOff x="5471550" y="6208515"/>
            <a:chExt cx="1780294" cy="527446"/>
          </a:xfrm>
          <a:solidFill>
            <a:schemeClr val="accent2"/>
          </a:solidFill>
        </p:grpSpPr>
        <p:sp>
          <p:nvSpPr>
            <p:cNvPr id="8" name="箭头: V 形 7"/>
            <p:cNvSpPr/>
            <p:nvPr/>
          </p:nvSpPr>
          <p:spPr>
            <a:xfrm>
              <a:off x="5471550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4" name="箭头: V 形 16"/>
            <p:cNvSpPr/>
            <p:nvPr/>
          </p:nvSpPr>
          <p:spPr>
            <a:xfrm>
              <a:off x="6109669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6747788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305675" y="2033270"/>
            <a:ext cx="1021715" cy="278765"/>
            <a:chOff x="5471550" y="6208515"/>
            <a:chExt cx="1780294" cy="527446"/>
          </a:xfrm>
          <a:solidFill>
            <a:schemeClr val="accent2"/>
          </a:solidFill>
        </p:grpSpPr>
        <p:sp>
          <p:nvSpPr>
            <p:cNvPr id="15" name="箭头: V 形 7"/>
            <p:cNvSpPr/>
            <p:nvPr>
              <p:custDataLst>
                <p:tags r:id="rId17"/>
              </p:custDataLst>
            </p:nvPr>
          </p:nvSpPr>
          <p:spPr>
            <a:xfrm>
              <a:off x="5471550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16" name="箭头: V 形 16"/>
            <p:cNvSpPr/>
            <p:nvPr>
              <p:custDataLst>
                <p:tags r:id="rId18"/>
              </p:custDataLst>
            </p:nvPr>
          </p:nvSpPr>
          <p:spPr>
            <a:xfrm>
              <a:off x="6109669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19" name="箭头: V 形 17"/>
            <p:cNvSpPr/>
            <p:nvPr>
              <p:custDataLst>
                <p:tags r:id="rId19"/>
              </p:custDataLst>
            </p:nvPr>
          </p:nvSpPr>
          <p:spPr>
            <a:xfrm>
              <a:off x="6747788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</p:grpSp>
      <p:sp>
        <p:nvSpPr>
          <p:cNvPr id="20" name="矩形: 圆角 10"/>
          <p:cNvSpPr/>
          <p:nvPr>
            <p:custDataLst>
              <p:tags r:id="rId3"/>
            </p:custDataLst>
          </p:nvPr>
        </p:nvSpPr>
        <p:spPr>
          <a:xfrm>
            <a:off x="1616774" y="4617562"/>
            <a:ext cx="2120860" cy="5949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rPr>
              <a:t>分析结果处理</a:t>
            </a:r>
          </a:p>
        </p:txBody>
      </p:sp>
      <p:sp>
        <p:nvSpPr>
          <p:cNvPr id="21" name="矩形: 圆角 11"/>
          <p:cNvSpPr/>
          <p:nvPr>
            <p:custDataLst>
              <p:tags r:id="rId4"/>
            </p:custDataLst>
          </p:nvPr>
        </p:nvSpPr>
        <p:spPr>
          <a:xfrm>
            <a:off x="4988576" y="4617562"/>
            <a:ext cx="2120860" cy="5949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rPr>
              <a:t>设置质量门限</a:t>
            </a:r>
          </a:p>
        </p:txBody>
      </p:sp>
      <p:sp>
        <p:nvSpPr>
          <p:cNvPr id="22" name="矩形: 圆角 12"/>
          <p:cNvSpPr/>
          <p:nvPr>
            <p:custDataLst>
              <p:tags r:id="rId5"/>
            </p:custDataLst>
          </p:nvPr>
        </p:nvSpPr>
        <p:spPr>
          <a:xfrm>
            <a:off x="8536912" y="4617562"/>
            <a:ext cx="2120860" cy="5949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67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rPr>
              <a:t>集成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rPr>
              <a:t>CI/CD</a:t>
            </a:r>
          </a:p>
        </p:txBody>
      </p:sp>
      <p:grpSp>
        <p:nvGrpSpPr>
          <p:cNvPr id="23" name="组合 22"/>
          <p:cNvGrpSpPr/>
          <p:nvPr/>
        </p:nvGrpSpPr>
        <p:grpSpPr>
          <a:xfrm rot="10800000">
            <a:off x="3801745" y="4735830"/>
            <a:ext cx="1021715" cy="278765"/>
            <a:chOff x="5471550" y="6208515"/>
            <a:chExt cx="1780294" cy="527446"/>
          </a:xfrm>
          <a:solidFill>
            <a:schemeClr val="accent2"/>
          </a:solidFill>
        </p:grpSpPr>
        <p:sp>
          <p:nvSpPr>
            <p:cNvPr id="24" name="箭头: V 形 7"/>
            <p:cNvSpPr/>
            <p:nvPr>
              <p:custDataLst>
                <p:tags r:id="rId14"/>
              </p:custDataLst>
            </p:nvPr>
          </p:nvSpPr>
          <p:spPr>
            <a:xfrm>
              <a:off x="5471550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25" name="箭头: V 形 16"/>
            <p:cNvSpPr/>
            <p:nvPr>
              <p:custDataLst>
                <p:tags r:id="rId15"/>
              </p:custDataLst>
            </p:nvPr>
          </p:nvSpPr>
          <p:spPr>
            <a:xfrm>
              <a:off x="6109669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26" name="箭头: V 形 17"/>
            <p:cNvSpPr/>
            <p:nvPr>
              <p:custDataLst>
                <p:tags r:id="rId16"/>
              </p:custDataLst>
            </p:nvPr>
          </p:nvSpPr>
          <p:spPr>
            <a:xfrm>
              <a:off x="6747788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 rot="10800000">
            <a:off x="7305675" y="4775835"/>
            <a:ext cx="1021715" cy="278765"/>
            <a:chOff x="5471550" y="6208515"/>
            <a:chExt cx="1780294" cy="527446"/>
          </a:xfrm>
          <a:solidFill>
            <a:schemeClr val="accent2"/>
          </a:solidFill>
        </p:grpSpPr>
        <p:sp>
          <p:nvSpPr>
            <p:cNvPr id="28" name="箭头: V 形 7"/>
            <p:cNvSpPr/>
            <p:nvPr>
              <p:custDataLst>
                <p:tags r:id="rId11"/>
              </p:custDataLst>
            </p:nvPr>
          </p:nvSpPr>
          <p:spPr>
            <a:xfrm>
              <a:off x="5471550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29" name="箭头: V 形 16"/>
            <p:cNvSpPr/>
            <p:nvPr>
              <p:custDataLst>
                <p:tags r:id="rId12"/>
              </p:custDataLst>
            </p:nvPr>
          </p:nvSpPr>
          <p:spPr>
            <a:xfrm>
              <a:off x="6109669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30" name="箭头: V 形 17"/>
            <p:cNvSpPr/>
            <p:nvPr>
              <p:custDataLst>
                <p:tags r:id="rId13"/>
              </p:custDataLst>
            </p:nvPr>
          </p:nvSpPr>
          <p:spPr>
            <a:xfrm>
              <a:off x="6747788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 rot="5400000">
            <a:off x="10840085" y="3350260"/>
            <a:ext cx="897255" cy="293370"/>
            <a:chOff x="5471550" y="6208515"/>
            <a:chExt cx="1780294" cy="527446"/>
          </a:xfrm>
          <a:solidFill>
            <a:schemeClr val="accent2"/>
          </a:solidFill>
        </p:grpSpPr>
        <p:sp>
          <p:nvSpPr>
            <p:cNvPr id="32" name="箭头: V 形 7"/>
            <p:cNvSpPr/>
            <p:nvPr>
              <p:custDataLst>
                <p:tags r:id="rId8"/>
              </p:custDataLst>
            </p:nvPr>
          </p:nvSpPr>
          <p:spPr>
            <a:xfrm>
              <a:off x="5471550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33" name="箭头: V 形 16"/>
            <p:cNvSpPr/>
            <p:nvPr>
              <p:custDataLst>
                <p:tags r:id="rId9"/>
              </p:custDataLst>
            </p:nvPr>
          </p:nvSpPr>
          <p:spPr>
            <a:xfrm>
              <a:off x="6109669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  <p:sp>
          <p:nvSpPr>
            <p:cNvPr id="34" name="箭头: V 形 17"/>
            <p:cNvSpPr/>
            <p:nvPr>
              <p:custDataLst>
                <p:tags r:id="rId10"/>
              </p:custDataLst>
            </p:nvPr>
          </p:nvSpPr>
          <p:spPr>
            <a:xfrm>
              <a:off x="6747788" y="6208515"/>
              <a:ext cx="504056" cy="527446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667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0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君黑-45简" panose="020B0604020202020204" charset="-122"/>
                <a:ea typeface="汉仪君黑-45简" panose="020B0604020202020204" charset="-122"/>
                <a:sym typeface="汉仪君黑-45简" panose="020B0604020202020204" charset="-122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4823460" y="2581910"/>
            <a:ext cx="2512695" cy="106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pPr algn="ctr" defTabSz="866775" fontAlgn="base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在构建环境中安装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SonarQube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扫描器，可通过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Maven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、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Gradle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或独立工具实现。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8093710" y="2583180"/>
            <a:ext cx="3048635" cy="73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pPr algn="ctr" defTabSz="866775" fontAlgn="base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rPr>
              <a:t>设置项目密钥、名称和分析参数，选择适合的质量配置文件。</a:t>
            </a:r>
          </a:p>
        </p:txBody>
      </p:sp>
      <p:sp>
        <p:nvSpPr>
          <p:cNvPr id="37" name="矩形 36"/>
          <p:cNvSpPr/>
          <p:nvPr>
            <p:custDataLst>
              <p:tags r:id="rId6"/>
            </p:custDataLst>
          </p:nvPr>
        </p:nvSpPr>
        <p:spPr>
          <a:xfrm>
            <a:off x="4533900" y="3752215"/>
            <a:ext cx="3235325" cy="73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lvl="0" algn="ctr" defTabSz="86677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根据团队现状定义关键质量指标阈值，确保代码不会低于预期标准。</a:t>
            </a: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129665" y="3879215"/>
            <a:ext cx="3235325" cy="73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lvl="0" algn="ctr" defTabSz="86677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通过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Web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sym typeface="+mn-ea"/>
              </a:rPr>
              <a:t>界面查看分析报告，处理关键问题并制定技术债务还款计划。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PART-0</a:t>
            </a:r>
            <a:r>
              <a:t>4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4330383" y="2289810"/>
            <a:ext cx="3531235" cy="2117090"/>
          </a:xfrm>
        </p:spPr>
        <p:txBody>
          <a:bodyPr/>
          <a:lstStyle/>
          <a:p>
            <a:pPr algn="ctr"/>
            <a:r>
              <a:rPr lang="zh-CN" altLang="en-US" sz="6000">
                <a:solidFill>
                  <a:schemeClr val="tx1"/>
                </a:solidFill>
              </a:rPr>
              <a:t>实验过程</a:t>
            </a:r>
            <a:endParaRPr lang="en-US" altLang="zh-CN" sz="6000">
              <a:solidFill>
                <a:schemeClr val="tx1"/>
              </a:solidFill>
            </a:endParaRPr>
          </a:p>
        </p:txBody>
      </p:sp>
      <p:pic>
        <p:nvPicPr>
          <p:cNvPr id="3" name="图片 2" descr="同济大学-logo-512p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img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710" y="3782060"/>
            <a:ext cx="6503035" cy="2968625"/>
          </a:xfrm>
          <a:prstGeom prst="rect">
            <a:avLst/>
          </a:prstGeom>
        </p:spPr>
      </p:pic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实验准备</a:t>
            </a:r>
            <a:r>
              <a:rPr lang="en-US" altLang="zh-CN"/>
              <a:t>-</a:t>
            </a:r>
            <a:r>
              <a:rPr>
                <a:ea typeface="宋体" panose="02010600030101010101" pitchFamily="2" charset="-122"/>
              </a:rPr>
              <a:t>部署</a:t>
            </a: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6595" y="1313815"/>
            <a:ext cx="7869555" cy="37433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1600"/>
              <a:t>Docker</a:t>
            </a:r>
            <a:r>
              <a:rPr lang="zh-CN" altLang="en-US" sz="1600"/>
              <a:t>部署方案</a:t>
            </a:r>
            <a:r>
              <a:rPr lang="en-US" altLang="zh-CN" sz="1600"/>
              <a:t>: </a:t>
            </a:r>
          </a:p>
          <a:p>
            <a:r>
              <a:rPr lang="en-US" altLang="zh-CN" sz="1600">
                <a:solidFill>
                  <a:schemeClr val="tx1"/>
                </a:solidFill>
              </a:rPr>
              <a:t>docker pull sonarqube
docker run -d --name sonarqube-db -e POSTGRES_USER=sonar -e POSTGRES_PASSWORD=sonar -e POSTGRES_DB=sonarqube postgres:alpine
</a:t>
            </a:r>
          </a:p>
          <a:p>
            <a:r>
              <a:rPr lang="zh-CN" altLang="en-US" sz="1600"/>
              <a:t>配置</a:t>
            </a:r>
            <a:r>
              <a:rPr lang="en-US" altLang="zh-CN" sz="1600"/>
              <a:t>PostgreSQL</a:t>
            </a:r>
            <a:r>
              <a:rPr lang="zh-CN" altLang="en-US" sz="1600"/>
              <a:t>数据库存储分析结果</a:t>
            </a:r>
          </a:p>
          <a:p>
            <a:r>
              <a:rPr lang="zh-CN" altLang="en-US" sz="1600"/>
              <a:t>服务器启动</a:t>
            </a:r>
            <a:r>
              <a:rPr lang="en-US" altLang="zh-CN" sz="1600"/>
              <a:t>: </a:t>
            </a:r>
            <a:endParaRPr lang="zh-CN" altLang="en-US" sz="1600"/>
          </a:p>
          <a:p>
            <a:r>
              <a:rPr lang="en-US" altLang="zh-CN" sz="1600"/>
              <a:t>docker run -d --name sonarqube -p 9000:9000 --link sonarqube-db:db -e SONAR_JDBC_URL=jdbc:postgresql://db:5432/sonarqube -e SONAR_JDBC_USERNAME=sonar -e SONAR_JDBC_PASSWORD=sonar sonarqube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pic>
        <p:nvPicPr>
          <p:cNvPr id="5" name="图片 4" descr="img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780" y="3934460"/>
            <a:ext cx="6990715" cy="2681605"/>
          </a:xfrm>
          <a:prstGeom prst="rect">
            <a:avLst/>
          </a:prstGeom>
        </p:spPr>
      </p:pic>
      <p:pic>
        <p:nvPicPr>
          <p:cNvPr id="6" name="图片 5" descr="img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3745" y="1423035"/>
            <a:ext cx="6751320" cy="2855595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实验准备</a:t>
            </a:r>
            <a:r>
              <a:rPr lang="en-US" altLang="zh-CN"/>
              <a:t>-</a:t>
            </a:r>
            <a:r>
              <a:rPr>
                <a:ea typeface="宋体" panose="02010600030101010101" pitchFamily="2" charset="-122"/>
              </a:rPr>
              <a:t>配置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80365" y="1871980"/>
            <a:ext cx="4597400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000"/>
              <a:t>访问服务器</a:t>
            </a:r>
            <a:r>
              <a:rPr lang="en-US" altLang="zh-CN" sz="2000"/>
              <a:t>(localhost:9000)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2000"/>
              <a:t>默认凭据</a:t>
            </a:r>
            <a:r>
              <a:rPr lang="en-US" altLang="zh-CN" sz="2000"/>
              <a:t>: admin/admin (</a:t>
            </a:r>
            <a:r>
              <a:rPr lang="zh-CN" altLang="en-US" sz="2000"/>
              <a:t>已修改密码</a:t>
            </a:r>
            <a:r>
              <a:rPr lang="en-US" altLang="zh-CN" sz="2000"/>
              <a:t>)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2000"/>
              <a:t>项目创建流程</a:t>
            </a:r>
            <a:r>
              <a:rPr lang="en-US" altLang="zh-CN" sz="2000"/>
              <a:t>: 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Char char="•"/>
            </a:pPr>
            <a:r>
              <a:rPr lang="zh-CN" altLang="en-US" sz="2000"/>
              <a:t>设置项目名与密钥</a:t>
            </a:r>
            <a:r>
              <a:rPr lang="en-US" altLang="zh-CN" sz="2000"/>
              <a:t>(A1)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Char char="•"/>
            </a:pPr>
            <a:r>
              <a:rPr lang="zh-CN" altLang="en-US" sz="2000"/>
              <a:t>生成分析</a:t>
            </a:r>
            <a:r>
              <a:rPr lang="en-US" altLang="zh-CN" sz="2000"/>
              <a:t>Token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Char char="•"/>
            </a:pPr>
            <a:r>
              <a:rPr lang="zh-CN" altLang="en-US" sz="2000"/>
              <a:t>选择分析方式</a:t>
            </a:r>
            <a:r>
              <a:rPr lang="en-US" altLang="zh-CN" sz="2000"/>
              <a:t>(Maven)</a:t>
            </a:r>
          </a:p>
        </p:txBody>
      </p:sp>
      <p:pic>
        <p:nvPicPr>
          <p:cNvPr id="10" name="图片 9" descr="img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370" y="3892550"/>
            <a:ext cx="6331585" cy="25920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执行分析</a:t>
            </a: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7545" y="1398270"/>
            <a:ext cx="5080000" cy="3538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/>
              <a:t>Maven</a:t>
            </a:r>
            <a:r>
              <a:rPr lang="zh-CN" altLang="en-US" sz="1600"/>
              <a:t>项目分析命令</a:t>
            </a:r>
            <a:r>
              <a:rPr lang="en-US" altLang="zh-CN" sz="1600"/>
              <a:t>: </a:t>
            </a:r>
          </a:p>
          <a:p>
            <a:r>
              <a:rPr lang="en-US" altLang="zh-CN" sz="1600"/>
              <a:t>apache</a:t>
            </a:r>
          </a:p>
          <a:p>
            <a:pPr algn="l">
              <a:buClrTx/>
              <a:buSzTx/>
              <a:buFontTx/>
            </a:pPr>
            <a:r>
              <a:rPr lang="zh-CN" altLang="en-US" sz="1600"/>
              <a:t>mvn clean verify sonar:sonar \
 -Dsonar.projectKey=A1 \
 -Dsonar.projectName='A1' \
 -Dsonar.host.url=http://localhost:9000 \
 -Dsonar.token=sqp_d5152f0314ae083487688edc182e8f65bbfa162d
</a:t>
            </a:r>
          </a:p>
          <a:p>
            <a:r>
              <a:rPr lang="zh-CN" altLang="en-US" sz="1600"/>
              <a:t>分析过程说明</a:t>
            </a:r>
            <a:r>
              <a:rPr lang="en-US" altLang="zh-CN" sz="1600"/>
              <a:t>: 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代码解析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规则应用</a:t>
            </a:r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结果提交至服务器</a:t>
            </a:r>
          </a:p>
        </p:txBody>
      </p:sp>
      <p:pic>
        <p:nvPicPr>
          <p:cNvPr id="4" name="图片 3" descr="img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3870" y="4495800"/>
            <a:ext cx="7760335" cy="1889760"/>
          </a:xfrm>
          <a:prstGeom prst="rect">
            <a:avLst/>
          </a:prstGeom>
        </p:spPr>
      </p:pic>
      <p:pic>
        <p:nvPicPr>
          <p:cNvPr id="7" name="图片 6" descr="img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965" y="868045"/>
            <a:ext cx="7760335" cy="33242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实验结果</a:t>
            </a:r>
            <a:endParaRPr>
              <a:ea typeface="宋体" panose="02010600030101010101" pitchFamily="2" charset="-122"/>
            </a:endParaRP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pic>
        <p:nvPicPr>
          <p:cNvPr id="3" name="图片 2" descr="img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470" y="3245485"/>
            <a:ext cx="8575040" cy="3239770"/>
          </a:xfrm>
          <a:prstGeom prst="rect">
            <a:avLst/>
          </a:prstGeom>
        </p:spPr>
      </p:pic>
      <p:pic>
        <p:nvPicPr>
          <p:cNvPr id="6" name="图片 5" descr="img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0345" y="1357630"/>
            <a:ext cx="8575040" cy="15817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PART-0</a:t>
            </a:r>
            <a:r>
              <a:t>5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4330383" y="2289810"/>
            <a:ext cx="3531235" cy="2117090"/>
          </a:xfrm>
        </p:spPr>
        <p:txBody>
          <a:bodyPr/>
          <a:lstStyle/>
          <a:p>
            <a:pPr algn="ctr"/>
            <a:r>
              <a:rPr lang="zh-CN" altLang="en-US" sz="6000">
                <a:solidFill>
                  <a:schemeClr val="tx1"/>
                </a:solidFill>
              </a:rPr>
              <a:t>结果分析</a:t>
            </a:r>
          </a:p>
        </p:txBody>
      </p:sp>
      <p:pic>
        <p:nvPicPr>
          <p:cNvPr id="3" name="图片 2" descr="同济大学-logo-512p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1899920"/>
            <a:ext cx="5711190" cy="4450080"/>
          </a:xfrm>
          <a:prstGeom prst="rect">
            <a:avLst/>
          </a:prstGeom>
        </p:spPr>
      </p:pic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0915" y="250260"/>
            <a:ext cx="10969200" cy="705600"/>
          </a:xfrm>
        </p:spPr>
        <p:txBody>
          <a:bodyPr/>
          <a:lstStyle/>
          <a:p>
            <a:r>
              <a:rPr lang="zh-CN" altLang="en-US"/>
              <a:t>安全性分析</a:t>
            </a: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4825" y="1153795"/>
            <a:ext cx="6019800" cy="46253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b="1"/>
              <a:t>Security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000" b="1"/>
              <a:t>open issues:</a:t>
            </a:r>
            <a:r>
              <a:rPr lang="en-US" altLang="zh-CN" sz="2000"/>
              <a:t>4 </a:t>
            </a:r>
            <a:r>
              <a:rPr lang="zh-CN" altLang="en-US" sz="2000"/>
              <a:t>意味着该项目代码存在</a:t>
            </a:r>
            <a:r>
              <a:rPr lang="en-US" altLang="zh-CN" sz="2000"/>
              <a:t>4</a:t>
            </a:r>
            <a:r>
              <a:rPr lang="zh-CN" altLang="en-US" sz="2000"/>
              <a:t>处安全问题，他们可能是潜在的漏洞或者是容易被攻击的地方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2000" b="1"/>
              <a:t>评分为</a:t>
            </a:r>
            <a:r>
              <a:rPr lang="en-US" altLang="zh-CN" sz="2000" b="1"/>
              <a:t>D:</a:t>
            </a:r>
            <a:r>
              <a:rPr lang="en-US" altLang="zh-CN" sz="2000"/>
              <a:t> </a:t>
            </a:r>
            <a:r>
              <a:rPr lang="zh-CN" altLang="en-US" sz="2000"/>
              <a:t>说明上述安全问题比较严重，需要优先修复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000" b="1"/>
              <a:t>Security Hotspots:</a:t>
            </a:r>
            <a:r>
              <a:rPr lang="en-US" altLang="zh-CN" sz="2000"/>
              <a:t> 11, </a:t>
            </a:r>
            <a:r>
              <a:rPr lang="zh-CN" altLang="en-US" sz="2000"/>
              <a:t>评分</a:t>
            </a:r>
            <a:r>
              <a:rPr lang="en-US" altLang="zh-CN" sz="2000"/>
              <a:t>E </a:t>
            </a:r>
            <a:r>
              <a:rPr lang="zh-CN" altLang="en-US" sz="2000"/>
              <a:t>表示代码中有</a:t>
            </a:r>
            <a:r>
              <a:rPr lang="en-US" altLang="zh-CN" sz="2000"/>
              <a:t>11</a:t>
            </a:r>
            <a:r>
              <a:rPr lang="zh-CN" altLang="en-US" sz="2000"/>
              <a:t>个地方被标记为安全热点，这些地方存在潜在的安全风险，虽然它们不一定是漏洞，但需要开发者特别注意。这些热点的评分为</a:t>
            </a:r>
            <a:r>
              <a:rPr lang="en-US" altLang="zh-CN" sz="2000"/>
              <a:t>E</a:t>
            </a:r>
            <a:r>
              <a:rPr lang="zh-CN" altLang="en-US" sz="2000"/>
              <a:t>，意味着这些问题非常严重，可能是非常容易被攻击者利用的潜在漏洞。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0915" y="250260"/>
            <a:ext cx="10969200" cy="705600"/>
          </a:xfrm>
        </p:spPr>
        <p:txBody>
          <a:bodyPr/>
          <a:lstStyle/>
          <a:p>
            <a:r>
              <a:rPr lang="zh-CN" altLang="en-US"/>
              <a:t>安全性分析</a:t>
            </a: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pic>
        <p:nvPicPr>
          <p:cNvPr id="4" name="图片 3" descr="img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730" y="2797175"/>
            <a:ext cx="6658610" cy="3860800"/>
          </a:xfrm>
          <a:prstGeom prst="rect">
            <a:avLst/>
          </a:prstGeom>
        </p:spPr>
      </p:pic>
      <p:pic>
        <p:nvPicPr>
          <p:cNvPr id="5" name="图片 4" descr="img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0715" y="394970"/>
            <a:ext cx="5941695" cy="23063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0915" y="250260"/>
            <a:ext cx="10969200" cy="705600"/>
          </a:xfrm>
        </p:spPr>
        <p:txBody>
          <a:bodyPr/>
          <a:lstStyle/>
          <a:p>
            <a:r>
              <a:rPr lang="zh-CN" altLang="en-US"/>
              <a:t>可靠性分析</a:t>
            </a: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4825" y="1153795"/>
            <a:ext cx="869505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b="1"/>
              <a:t>open issues: </a:t>
            </a:r>
            <a:r>
              <a:rPr lang="en-US" altLang="zh-CN" sz="2000"/>
              <a:t>72 </a:t>
            </a:r>
            <a:r>
              <a:rPr lang="zh-CN" altLang="en-US" sz="2000"/>
              <a:t>说明本项目存在</a:t>
            </a:r>
            <a:r>
              <a:rPr lang="en-US" altLang="zh-CN" sz="2000"/>
              <a:t>72</a:t>
            </a:r>
            <a:r>
              <a:rPr lang="zh-CN" altLang="en-US" sz="2000"/>
              <a:t>个可靠性问题，比如稳定性和异常处理的缺陷</a:t>
            </a:r>
            <a:r>
              <a:rPr lang="en-US" altLang="zh-CN" sz="2000"/>
              <a:t>(</a:t>
            </a:r>
            <a:r>
              <a:rPr lang="zh-CN" altLang="en-US" sz="2000"/>
              <a:t>未捕获的异常</a:t>
            </a:r>
            <a:r>
              <a:rPr lang="en-US" altLang="zh-CN" sz="2000"/>
              <a:t>/</a:t>
            </a:r>
            <a:r>
              <a:rPr lang="zh-CN" altLang="en-US" sz="2000"/>
              <a:t>空指针异常等等</a:t>
            </a:r>
            <a:r>
              <a:rPr lang="en-US" altLang="zh-CN" sz="2000"/>
              <a:t>)  </a:t>
            </a:r>
          </a:p>
          <a:p>
            <a:pPr indent="0" fontAlgn="auto">
              <a:lnSpc>
                <a:spcPct val="150000"/>
              </a:lnSpc>
            </a:pPr>
            <a:r>
              <a:rPr lang="zh-CN" altLang="en-US" sz="2000" b="1"/>
              <a:t>评分</a:t>
            </a:r>
            <a:r>
              <a:rPr lang="en-US" altLang="zh-CN" sz="2000" b="1"/>
              <a:t>D</a:t>
            </a:r>
            <a:r>
              <a:rPr lang="en-US" altLang="zh-CN" sz="2000"/>
              <a:t>  </a:t>
            </a:r>
            <a:r>
              <a:rPr lang="zh-CN" altLang="en-US" sz="2000"/>
              <a:t>表示这些问题比较严重，可能导致程序运行时出现崩溃或意外行为。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25" y="2567940"/>
            <a:ext cx="6248400" cy="3600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2690" y="3297555"/>
            <a:ext cx="3257550" cy="29908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9890" y="2335530"/>
            <a:ext cx="2466975" cy="9620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0915" y="250260"/>
            <a:ext cx="10969200" cy="705600"/>
          </a:xfrm>
        </p:spPr>
        <p:txBody>
          <a:bodyPr/>
          <a:lstStyle/>
          <a:p>
            <a:r>
              <a:rPr lang="zh-CN" altLang="en-US"/>
              <a:t>可维护性分析</a:t>
            </a:r>
          </a:p>
        </p:txBody>
      </p:sp>
      <p:pic>
        <p:nvPicPr>
          <p:cNvPr id="2" name="图片 1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2915" y="1109345"/>
            <a:ext cx="5348605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 b="1" i="0"/>
              <a:t>Open Issues:</a:t>
            </a:r>
            <a:r>
              <a:rPr lang="en-US" altLang="zh-CN" sz="2000" i="0"/>
              <a:t> 313 看起来很高，但评分A表示这些问题并不是很严重，代码的可维护性整体来说是良好的。</a:t>
            </a:r>
          </a:p>
          <a:p>
            <a:pPr marL="0" algn="l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 i="0"/>
              <a:t>可维护性问题通常是代码的清晰度、重复性、复杂度等方面的问题，可能会导致以后扩展和修改时遇到困难。 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255" y="1233170"/>
            <a:ext cx="5800725" cy="34239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70" y="3970655"/>
            <a:ext cx="2294255" cy="27952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0915" y="250260"/>
            <a:ext cx="10969200" cy="705600"/>
          </a:xfrm>
        </p:spPr>
        <p:txBody>
          <a:bodyPr/>
          <a:lstStyle/>
          <a:p>
            <a:r>
              <a:rPr lang="zh-CN" altLang="en-US"/>
              <a:t>其他指标</a:t>
            </a:r>
          </a:p>
        </p:txBody>
      </p:sp>
      <p:pic>
        <p:nvPicPr>
          <p:cNvPr id="4" name="图片 3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9115" y="1233170"/>
            <a:ext cx="780034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2000" b="1" i="0"/>
              <a:t>Coverage:</a:t>
            </a:r>
            <a:r>
              <a:rPr lang="en-US" altLang="zh-CN" sz="2000" b="0" i="0"/>
              <a:t> 指自动化测试工具可以覆盖多少代码，本项目并没有涉及自动化测试工具，故为0% </a:t>
            </a:r>
          </a:p>
          <a:p>
            <a:pPr indent="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2000" b="1" i="0"/>
              <a:t>Duplications:</a:t>
            </a:r>
            <a:r>
              <a:rPr lang="en-US" altLang="zh-CN" sz="2000" b="0" i="0"/>
              <a:t> 代码重复率 2.2%表示本项目中有约2.2%的代码是重复的。这个比例相对较低，但还是需要注意 </a:t>
            </a: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0915" y="250260"/>
            <a:ext cx="10969200" cy="705600"/>
          </a:xfrm>
        </p:spPr>
        <p:txBody>
          <a:bodyPr>
            <a:normAutofit/>
          </a:bodyPr>
          <a:lstStyle/>
          <a:p>
            <a:r>
              <a:rPr>
                <a:ea typeface="宋体" panose="02010600030101010101" pitchFamily="2" charset="-122"/>
              </a:rPr>
              <a:t>构造问题代码检测实验</a:t>
            </a:r>
          </a:p>
        </p:txBody>
      </p:sp>
      <p:pic>
        <p:nvPicPr>
          <p:cNvPr id="4" name="图片 3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0845" y="1233170"/>
            <a:ext cx="528447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1. </a:t>
            </a:r>
            <a:r>
              <a:rPr lang="zh-CN" altLang="en-US"/>
              <a:t>安全性问题（</a:t>
            </a:r>
            <a:r>
              <a:rPr lang="en-US" altLang="zh-CN"/>
              <a:t>Security Hotspots</a:t>
            </a:r>
            <a:r>
              <a:rPr lang="zh-CN" altLang="en-US"/>
              <a:t>）：</a:t>
            </a:r>
          </a:p>
          <a:p>
            <a:r>
              <a:rPr lang="en-US" altLang="zh-CN"/>
              <a:t>   - </a:t>
            </a:r>
            <a:r>
              <a:rPr lang="zh-CN" altLang="en-US"/>
              <a:t>硬编码密码</a:t>
            </a:r>
          </a:p>
          <a:p>
            <a:r>
              <a:rPr lang="en-US" altLang="zh-CN"/>
              <a:t>   - SQL</a:t>
            </a:r>
            <a:r>
              <a:rPr lang="zh-CN" altLang="en-US"/>
              <a:t>注入风险</a:t>
            </a:r>
          </a:p>
          <a:p>
            <a:r>
              <a:rPr lang="en-US" altLang="zh-CN"/>
              <a:t>   - </a:t>
            </a:r>
            <a:r>
              <a:rPr lang="zh-CN" altLang="en-US"/>
              <a:t>不安全的随机数生成</a:t>
            </a:r>
          </a:p>
          <a:p>
            <a:r>
              <a:rPr lang="en-US" altLang="zh-CN"/>
              <a:t>   - </a:t>
            </a:r>
            <a:r>
              <a:rPr lang="zh-CN" altLang="en-US"/>
              <a:t>总计：</a:t>
            </a:r>
            <a:r>
              <a:rPr lang="en-US" altLang="zh-CN"/>
              <a:t>3</a:t>
            </a:r>
            <a:r>
              <a:rPr lang="zh-CN" altLang="en-US"/>
              <a:t>个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0845" y="2987040"/>
            <a:ext cx="528447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2. </a:t>
            </a:r>
            <a:r>
              <a:rPr lang="zh-CN" altLang="en-US"/>
              <a:t>可靠性问题（</a:t>
            </a:r>
            <a:r>
              <a:rPr lang="en-US" altLang="zh-CN"/>
              <a:t>Bugs</a:t>
            </a:r>
            <a:r>
              <a:rPr lang="zh-CN" altLang="en-US"/>
              <a:t>）：</a:t>
            </a:r>
          </a:p>
          <a:p>
            <a:r>
              <a:rPr lang="en-US" altLang="zh-CN"/>
              <a:t>   - </a:t>
            </a:r>
            <a:r>
              <a:rPr lang="zh-CN" altLang="en-US"/>
              <a:t>空指针风险</a:t>
            </a:r>
          </a:p>
          <a:p>
            <a:r>
              <a:rPr lang="en-US" altLang="zh-CN"/>
              <a:t>   - </a:t>
            </a:r>
            <a:r>
              <a:rPr lang="zh-CN" altLang="en-US"/>
              <a:t>资源泄露</a:t>
            </a:r>
          </a:p>
          <a:p>
            <a:r>
              <a:rPr lang="en-US" altLang="zh-CN"/>
              <a:t>   - </a:t>
            </a:r>
            <a:r>
              <a:rPr lang="zh-CN" altLang="en-US"/>
              <a:t>不安全的类型转换</a:t>
            </a:r>
          </a:p>
          <a:p>
            <a:r>
              <a:rPr lang="en-US" altLang="zh-CN"/>
              <a:t>   - </a:t>
            </a:r>
            <a:r>
              <a:rPr lang="zh-CN" altLang="en-US"/>
              <a:t>死循环</a:t>
            </a:r>
          </a:p>
          <a:p>
            <a:r>
              <a:rPr lang="en-US" altLang="zh-CN"/>
              <a:t>   - </a:t>
            </a:r>
            <a:r>
              <a:rPr lang="zh-CN" altLang="en-US"/>
              <a:t>总计：</a:t>
            </a:r>
            <a:r>
              <a:rPr lang="en-US" altLang="zh-CN"/>
              <a:t>4</a:t>
            </a:r>
            <a:r>
              <a:rPr lang="zh-CN" altLang="en-US"/>
              <a:t>个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29985" y="2709545"/>
            <a:ext cx="387286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3. </a:t>
            </a:r>
            <a:r>
              <a:rPr lang="zh-CN" altLang="en-US"/>
              <a:t>可维护性问题（</a:t>
            </a:r>
            <a:r>
              <a:rPr lang="en-US" altLang="zh-CN"/>
              <a:t>Code Smells</a:t>
            </a:r>
            <a:r>
              <a:rPr lang="zh-CN" altLang="en-US"/>
              <a:t>）：</a:t>
            </a:r>
          </a:p>
          <a:p>
            <a:r>
              <a:rPr lang="en-US" altLang="zh-CN"/>
              <a:t>   - </a:t>
            </a:r>
            <a:r>
              <a:rPr lang="zh-CN" altLang="en-US"/>
              <a:t>未使用泛型</a:t>
            </a:r>
          </a:p>
          <a:p>
            <a:r>
              <a:rPr lang="en-US" altLang="zh-CN"/>
              <a:t>   - </a:t>
            </a:r>
            <a:r>
              <a:rPr lang="zh-CN" altLang="en-US"/>
              <a:t>空</a:t>
            </a:r>
            <a:r>
              <a:rPr lang="en-US" altLang="zh-CN"/>
              <a:t>catch</a:t>
            </a:r>
            <a:r>
              <a:rPr lang="zh-CN" altLang="en-US"/>
              <a:t>块</a:t>
            </a:r>
          </a:p>
          <a:p>
            <a:r>
              <a:rPr lang="en-US" altLang="zh-CN"/>
              <a:t>   - </a:t>
            </a:r>
            <a:r>
              <a:rPr lang="zh-CN" altLang="en-US"/>
              <a:t>重复代码</a:t>
            </a:r>
          </a:p>
          <a:p>
            <a:r>
              <a:rPr lang="en-US" altLang="zh-CN"/>
              <a:t>   - </a:t>
            </a:r>
            <a:r>
              <a:rPr lang="zh-CN" altLang="en-US"/>
              <a:t>复杂条件</a:t>
            </a:r>
          </a:p>
          <a:p>
            <a:r>
              <a:rPr lang="en-US" altLang="zh-CN"/>
              <a:t>   - </a:t>
            </a:r>
            <a:r>
              <a:rPr lang="zh-CN" altLang="en-US"/>
              <a:t>魔法数字</a:t>
            </a:r>
          </a:p>
          <a:p>
            <a:r>
              <a:rPr lang="en-US" altLang="zh-CN"/>
              <a:t>   - </a:t>
            </a:r>
            <a:r>
              <a:rPr lang="zh-CN" altLang="en-US"/>
              <a:t>参数过多</a:t>
            </a:r>
          </a:p>
          <a:p>
            <a:r>
              <a:rPr lang="en-US" altLang="zh-CN"/>
              <a:t>   - </a:t>
            </a:r>
            <a:r>
              <a:rPr lang="zh-CN" altLang="en-US"/>
              <a:t>未使用的私有方法</a:t>
            </a:r>
          </a:p>
          <a:p>
            <a:r>
              <a:rPr lang="en-US" altLang="zh-CN"/>
              <a:t>   - </a:t>
            </a:r>
            <a:r>
              <a:rPr lang="zh-CN" altLang="en-US"/>
              <a:t>可变的静态变量</a:t>
            </a:r>
          </a:p>
          <a:p>
            <a:r>
              <a:rPr lang="en-US" altLang="zh-CN"/>
              <a:t>   - </a:t>
            </a:r>
            <a:r>
              <a:rPr lang="zh-CN" altLang="en-US"/>
              <a:t>总计：</a:t>
            </a:r>
            <a:r>
              <a:rPr lang="en-US" altLang="zh-CN"/>
              <a:t>8</a:t>
            </a:r>
            <a:r>
              <a:rPr lang="zh-CN" altLang="en-US"/>
              <a:t>个</a:t>
            </a: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0915" y="250260"/>
            <a:ext cx="10969200" cy="705600"/>
          </a:xfrm>
        </p:spPr>
        <p:txBody>
          <a:bodyPr>
            <a:normAutofit/>
          </a:bodyPr>
          <a:lstStyle/>
          <a:p>
            <a:r>
              <a:rPr>
                <a:ea typeface="宋体" panose="02010600030101010101" pitchFamily="2" charset="-122"/>
              </a:rPr>
              <a:t>构造问题代码检测实验</a:t>
            </a:r>
          </a:p>
        </p:txBody>
      </p:sp>
      <p:pic>
        <p:nvPicPr>
          <p:cNvPr id="4" name="图片 3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pic>
        <p:nvPicPr>
          <p:cNvPr id="5" name="图片 4" descr="1710596f63789ce38388d6478f4ab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7595" y="1425575"/>
            <a:ext cx="9444990" cy="47796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0915" y="250260"/>
            <a:ext cx="10969200" cy="705600"/>
          </a:xfrm>
        </p:spPr>
        <p:txBody>
          <a:bodyPr>
            <a:normAutofit/>
          </a:bodyPr>
          <a:lstStyle/>
          <a:p>
            <a:r>
              <a:rPr>
                <a:ea typeface="宋体" panose="02010600030101010101" pitchFamily="2" charset="-122"/>
              </a:rPr>
              <a:t>安全性分析</a:t>
            </a:r>
          </a:p>
        </p:txBody>
      </p:sp>
      <p:pic>
        <p:nvPicPr>
          <p:cNvPr id="4" name="图片 3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4680" y="1372235"/>
            <a:ext cx="107651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预设的三个安全性问题当中，检测出两个：硬编码密码</a:t>
            </a:r>
            <a:r>
              <a:rPr lang="en-US" altLang="zh-CN"/>
              <a:t>(H)</a:t>
            </a:r>
            <a:r>
              <a:rPr lang="zh-CN" altLang="en-US"/>
              <a:t>、不安全随机数</a:t>
            </a:r>
            <a:r>
              <a:rPr lang="en-US" altLang="zh-CN"/>
              <a:t>(M)--</a:t>
            </a:r>
            <a:r>
              <a:rPr lang="zh-CN" altLang="en-US"/>
              <a:t>归属于</a:t>
            </a:r>
            <a:r>
              <a:rPr lang="en-US" altLang="zh-CN"/>
              <a:t>Security Hotspots</a:t>
            </a:r>
            <a:r>
              <a:rPr lang="zh-CN" altLang="en-US"/>
              <a:t>类别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4355" y="3001010"/>
            <a:ext cx="7360285" cy="14401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14045" y="4441190"/>
            <a:ext cx="106775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未检测出</a:t>
            </a:r>
            <a:r>
              <a:rPr lang="en-US" altLang="zh-CN"/>
              <a:t>SQL</a:t>
            </a:r>
            <a:r>
              <a:rPr lang="zh-CN" altLang="en-US"/>
              <a:t>注入的问题</a:t>
            </a:r>
            <a:r>
              <a:rPr lang="en-US" altLang="zh-CN"/>
              <a:t>(</a:t>
            </a:r>
            <a:r>
              <a:rPr lang="zh-CN" altLang="en-US"/>
              <a:t>问题代码如下</a:t>
            </a:r>
            <a:r>
              <a:rPr lang="en-US" altLang="zh-CN"/>
              <a:t>)</a:t>
            </a:r>
            <a:r>
              <a:rPr lang="zh-CN" altLang="en-US"/>
              <a:t>：</a:t>
            </a:r>
          </a:p>
          <a:p>
            <a:r>
              <a:rPr lang="en-US" altLang="zh-CN"/>
              <a:t>// Bug</a:t>
            </a:r>
            <a:r>
              <a:rPr lang="zh-CN" altLang="en-US"/>
              <a:t>类型</a:t>
            </a:r>
            <a:r>
              <a:rPr lang="en-US" altLang="zh-CN"/>
              <a:t>7: SQL</a:t>
            </a:r>
            <a:r>
              <a:rPr lang="zh-CN" altLang="en-US"/>
              <a:t>注入风险</a:t>
            </a:r>
          </a:p>
          <a:p>
            <a:r>
              <a:rPr lang="en-US" altLang="zh-CN"/>
              <a:t>    public Connection createConnection(String username) throws SQLException {</a:t>
            </a:r>
          </a:p>
          <a:p>
            <a:r>
              <a:rPr lang="en-US" altLang="zh-CN"/>
              <a:t>        return DriverManager.getConnection(</a:t>
            </a:r>
          </a:p>
          <a:p>
            <a:r>
              <a:rPr lang="en-US" altLang="zh-CN"/>
              <a:t>           </a:t>
            </a:r>
            <a:r>
              <a:rPr lang="en-US" altLang="zh-CN">
                <a:solidFill>
                  <a:srgbClr val="FF0000"/>
                </a:solidFill>
              </a:rPr>
              <a:t> "jdbc:mysql://localhost:3306/test?user=" + username + "&amp;password=" + PASSWORD</a:t>
            </a:r>
            <a:endParaRPr lang="en-US" altLang="zh-CN"/>
          </a:p>
          <a:p>
            <a:r>
              <a:rPr lang="en-US" altLang="zh-CN"/>
              <a:t>        );</a:t>
            </a:r>
          </a:p>
          <a:p>
            <a:r>
              <a:rPr lang="en-US" altLang="zh-CN"/>
              <a:t>    }</a:t>
            </a:r>
          </a:p>
          <a:p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680" y="1960880"/>
            <a:ext cx="7767955" cy="11023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0915" y="250260"/>
            <a:ext cx="10969200" cy="705600"/>
          </a:xfrm>
        </p:spPr>
        <p:txBody>
          <a:bodyPr>
            <a:normAutofit/>
          </a:bodyPr>
          <a:lstStyle/>
          <a:p>
            <a:r>
              <a:rPr>
                <a:ea typeface="宋体" panose="02010600030101010101" pitchFamily="2" charset="-122"/>
              </a:rPr>
              <a:t>可靠性分析</a:t>
            </a:r>
          </a:p>
        </p:txBody>
      </p:sp>
      <p:pic>
        <p:nvPicPr>
          <p:cNvPr id="4" name="图片 3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25" y="1851025"/>
            <a:ext cx="5610225" cy="1485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4045" y="1482725"/>
            <a:ext cx="10815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预设的四个可靠性问题当中，检测出一个：资源泄露</a:t>
            </a:r>
            <a:r>
              <a:rPr lang="en-US" altLang="zh-CN"/>
              <a:t>(H)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4045" y="3805555"/>
            <a:ext cx="58242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未检测出不安全的类型转换的问题</a:t>
            </a:r>
            <a:r>
              <a:rPr lang="en-US" altLang="zh-CN"/>
              <a:t>(</a:t>
            </a:r>
            <a:r>
              <a:rPr lang="zh-CN" altLang="en-US"/>
              <a:t>问题代码如下</a:t>
            </a:r>
            <a:r>
              <a:rPr lang="en-US" altLang="zh-CN"/>
              <a:t>)</a:t>
            </a:r>
            <a:r>
              <a:rPr lang="zh-CN" altLang="en-US"/>
              <a:t>：</a:t>
            </a:r>
          </a:p>
          <a:p>
            <a:r>
              <a:rPr lang="en-US" altLang="zh-CN"/>
              <a:t>// Bug</a:t>
            </a:r>
            <a:r>
              <a:rPr lang="zh-CN" altLang="en-US"/>
              <a:t>类型</a:t>
            </a:r>
            <a:r>
              <a:rPr lang="en-US" altLang="zh-CN"/>
              <a:t>5: </a:t>
            </a:r>
            <a:r>
              <a:rPr lang="zh-CN" altLang="en-US"/>
              <a:t>不安全的类型转换</a:t>
            </a:r>
          </a:p>
          <a:p>
            <a:r>
              <a:rPr lang="en-US" altLang="zh-CN"/>
              <a:t>    public void unsafeCast(Object obj) {</a:t>
            </a:r>
          </a:p>
          <a:p>
            <a:r>
              <a:rPr lang="en-US" altLang="zh-CN"/>
              <a:t>        </a:t>
            </a:r>
            <a:r>
              <a:rPr lang="en-US" altLang="zh-CN">
                <a:solidFill>
                  <a:srgbClr val="FF0000"/>
                </a:solidFill>
              </a:rPr>
              <a:t>String str = (String) obj;</a:t>
            </a:r>
          </a:p>
          <a:p>
            <a:r>
              <a:rPr lang="en-US" altLang="zh-CN"/>
              <a:t>        System.out.println(str);</a:t>
            </a:r>
          </a:p>
          <a:p>
            <a:r>
              <a:rPr lang="en-US" altLang="zh-CN"/>
              <a:t>    }</a:t>
            </a:r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542405" y="1675765"/>
            <a:ext cx="55619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未检测出</a:t>
            </a:r>
            <a:r>
              <a:rPr lang="zh-CN"/>
              <a:t>空指针风险</a:t>
            </a:r>
            <a:r>
              <a:rPr lang="zh-CN" altLang="en-US"/>
              <a:t>的问题</a:t>
            </a:r>
            <a:r>
              <a:rPr lang="en-US" altLang="zh-CN"/>
              <a:t>(</a:t>
            </a:r>
            <a:r>
              <a:rPr lang="zh-CN" altLang="en-US"/>
              <a:t>问题代码如下</a:t>
            </a:r>
            <a:r>
              <a:rPr lang="en-US" altLang="zh-CN"/>
              <a:t>)</a:t>
            </a:r>
            <a:r>
              <a:rPr lang="zh-CN" altLang="en-US"/>
              <a:t>：</a:t>
            </a:r>
          </a:p>
          <a:p>
            <a:r>
              <a:rPr lang="en-US" altLang="zh-CN"/>
              <a:t>// Bug</a:t>
            </a:r>
            <a:r>
              <a:rPr lang="zh-CN" altLang="en-US"/>
              <a:t>类型</a:t>
            </a:r>
            <a:r>
              <a:rPr lang="en-US" altLang="zh-CN"/>
              <a:t>3: </a:t>
            </a:r>
            <a:r>
              <a:rPr lang="zh-CN" altLang="en-US"/>
              <a:t>空指针风险</a:t>
            </a:r>
          </a:p>
          <a:p>
            <a:r>
              <a:rPr lang="en-US" altLang="zh-CN"/>
              <a:t>    public String processString(</a:t>
            </a:r>
            <a:r>
              <a:rPr lang="en-US" altLang="zh-CN">
                <a:solidFill>
                  <a:srgbClr val="FF0000"/>
                </a:solidFill>
              </a:rPr>
              <a:t>String input</a:t>
            </a:r>
            <a:r>
              <a:rPr lang="en-US" altLang="zh-CN"/>
              <a:t>) {</a:t>
            </a:r>
          </a:p>
          <a:p>
            <a:r>
              <a:rPr lang="en-US" altLang="zh-CN"/>
              <a:t>        return </a:t>
            </a:r>
            <a:r>
              <a:rPr lang="en-US" altLang="zh-CN">
                <a:solidFill>
                  <a:srgbClr val="FF0000"/>
                </a:solidFill>
              </a:rPr>
              <a:t>input</a:t>
            </a:r>
            <a:r>
              <a:rPr lang="en-US" altLang="zh-CN"/>
              <a:t>.toLowerCase();  </a:t>
            </a:r>
          </a:p>
          <a:p>
            <a:r>
              <a:rPr lang="en-US" altLang="zh-CN"/>
              <a:t>    }</a:t>
            </a:r>
          </a:p>
          <a:p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280150" y="3805555"/>
            <a:ext cx="58242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未检测出死循环的问题</a:t>
            </a:r>
            <a:r>
              <a:rPr lang="en-US" altLang="zh-CN"/>
              <a:t>(</a:t>
            </a:r>
            <a:r>
              <a:rPr lang="zh-CN" altLang="en-US"/>
              <a:t>问题代码如下</a:t>
            </a:r>
            <a:r>
              <a:rPr lang="en-US" altLang="zh-CN"/>
              <a:t>)</a:t>
            </a:r>
            <a:r>
              <a:rPr lang="zh-CN" altLang="en-US"/>
              <a:t>：</a:t>
            </a:r>
          </a:p>
          <a:p>
            <a:r>
              <a:rPr lang="en-US" altLang="zh-CN"/>
              <a:t>// Bug</a:t>
            </a:r>
            <a:r>
              <a:rPr lang="zh-CN" altLang="en-US"/>
              <a:t>类型</a:t>
            </a:r>
            <a:r>
              <a:rPr lang="en-US" altLang="zh-CN"/>
              <a:t>6: </a:t>
            </a:r>
            <a:r>
              <a:rPr lang="zh-CN" altLang="en-US"/>
              <a:t>死循环</a:t>
            </a:r>
          </a:p>
          <a:p>
            <a:r>
              <a:rPr lang="en-US" altLang="zh-CN"/>
              <a:t>    public void infiniteLoop() {</a:t>
            </a:r>
          </a:p>
          <a:p>
            <a:r>
              <a:rPr lang="en-US" altLang="zh-CN"/>
              <a:t>        int i = 0;</a:t>
            </a:r>
          </a:p>
          <a:p>
            <a:r>
              <a:rPr lang="en-US" altLang="zh-CN"/>
              <a:t>        </a:t>
            </a:r>
            <a:r>
              <a:rPr lang="en-US" altLang="zh-CN">
                <a:solidFill>
                  <a:srgbClr val="FF0000"/>
                </a:solidFill>
              </a:rPr>
              <a:t>while(i &lt; 10) {</a:t>
            </a:r>
          </a:p>
          <a:p>
            <a:r>
              <a:rPr lang="en-US" altLang="zh-CN">
                <a:solidFill>
                  <a:srgbClr val="FF0000"/>
                </a:solidFill>
              </a:rPr>
              <a:t>            System.out.println("loop");</a:t>
            </a:r>
          </a:p>
          <a:p>
            <a:r>
              <a:rPr lang="en-US" altLang="zh-CN">
                <a:solidFill>
                  <a:srgbClr val="FF0000"/>
                </a:solidFill>
              </a:rPr>
              <a:t>            // i</a:t>
            </a:r>
            <a:r>
              <a:rPr lang="zh-CN" altLang="en-US">
                <a:solidFill>
                  <a:srgbClr val="FF0000"/>
                </a:solidFill>
              </a:rPr>
              <a:t>未递增</a:t>
            </a:r>
          </a:p>
          <a:p>
            <a:r>
              <a:rPr lang="en-US" altLang="zh-CN">
                <a:solidFill>
                  <a:srgbClr val="FF0000"/>
                </a:solidFill>
              </a:rPr>
              <a:t>        }</a:t>
            </a:r>
          </a:p>
          <a:p>
            <a:r>
              <a:rPr lang="en-US" altLang="zh-CN"/>
              <a:t>    }</a:t>
            </a:r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0915" y="250260"/>
            <a:ext cx="10969200" cy="705600"/>
          </a:xfrm>
        </p:spPr>
        <p:txBody>
          <a:bodyPr>
            <a:normAutofit/>
          </a:bodyPr>
          <a:lstStyle/>
          <a:p>
            <a:r>
              <a:rPr>
                <a:ea typeface="宋体" panose="02010600030101010101" pitchFamily="2" charset="-122"/>
              </a:rPr>
              <a:t>可维护性分析</a:t>
            </a:r>
          </a:p>
        </p:txBody>
      </p:sp>
      <p:pic>
        <p:nvPicPr>
          <p:cNvPr id="4" name="图片 3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4045" y="1431925"/>
            <a:ext cx="10677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预设的八个可维护性问题当中，检测出五个：未使用泛型</a:t>
            </a:r>
            <a:r>
              <a:rPr lang="en-US" altLang="zh-CN"/>
              <a:t>(M)</a:t>
            </a:r>
            <a:r>
              <a:rPr lang="zh-CN" altLang="en-US"/>
              <a:t>、重复代码</a:t>
            </a:r>
            <a:r>
              <a:rPr lang="en-US" altLang="zh-CN"/>
              <a:t>(M)</a:t>
            </a:r>
            <a:r>
              <a:rPr lang="zh-CN" altLang="en-US"/>
              <a:t>、可变的静态变量</a:t>
            </a:r>
            <a:r>
              <a:rPr lang="en-US" altLang="zh-CN"/>
              <a:t>(L)</a:t>
            </a:r>
            <a:r>
              <a:rPr lang="zh-CN" altLang="en-US"/>
              <a:t>、未使用的私有方法</a:t>
            </a:r>
            <a:r>
              <a:rPr lang="en-US" altLang="zh-CN"/>
              <a:t>(M)</a:t>
            </a:r>
            <a:r>
              <a:rPr lang="zh-CN" altLang="en-US"/>
              <a:t>、参数过多</a:t>
            </a:r>
            <a:r>
              <a:rPr lang="en-US" altLang="zh-CN"/>
              <a:t>(M)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845" y="2077085"/>
            <a:ext cx="3552825" cy="1019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2455" y="2077085"/>
            <a:ext cx="6372225" cy="1314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845" y="3345180"/>
            <a:ext cx="6096000" cy="1762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7375" y="3429000"/>
            <a:ext cx="3952875" cy="1200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5302885"/>
            <a:ext cx="5619750" cy="12573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0915" y="250260"/>
            <a:ext cx="10969200" cy="705600"/>
          </a:xfrm>
        </p:spPr>
        <p:txBody>
          <a:bodyPr>
            <a:normAutofit/>
          </a:bodyPr>
          <a:lstStyle/>
          <a:p>
            <a:r>
              <a:rPr>
                <a:ea typeface="宋体" panose="02010600030101010101" pitchFamily="2" charset="-122"/>
              </a:rPr>
              <a:t>可维护性分析</a:t>
            </a:r>
          </a:p>
        </p:txBody>
      </p:sp>
      <p:pic>
        <p:nvPicPr>
          <p:cNvPr id="4" name="图片 3" descr="同济大学-logo-512p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67970"/>
            <a:ext cx="965200" cy="965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4045" y="1078865"/>
            <a:ext cx="639064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未检测出空</a:t>
            </a:r>
            <a:r>
              <a:rPr lang="en-US" altLang="zh-CN"/>
              <a:t>catch</a:t>
            </a:r>
            <a:r>
              <a:rPr lang="zh-CN" altLang="en-US"/>
              <a:t>块的问题</a:t>
            </a:r>
            <a:r>
              <a:rPr lang="en-US" altLang="zh-CN"/>
              <a:t>(</a:t>
            </a:r>
            <a:r>
              <a:rPr lang="zh-CN" altLang="en-US"/>
              <a:t>问题代码如下</a:t>
            </a:r>
            <a:r>
              <a:rPr lang="en-US" altLang="zh-CN"/>
              <a:t>)</a:t>
            </a:r>
            <a:r>
              <a:rPr lang="zh-CN" altLang="en-US"/>
              <a:t>：</a:t>
            </a:r>
          </a:p>
          <a:p>
            <a:r>
              <a:rPr lang="en-US" altLang="zh-CN"/>
              <a:t>// Bug</a:t>
            </a:r>
            <a:r>
              <a:rPr lang="zh-CN" altLang="en-US"/>
              <a:t>类型</a:t>
            </a:r>
            <a:r>
              <a:rPr lang="en-US" altLang="zh-CN"/>
              <a:t>8: </a:t>
            </a:r>
            <a:r>
              <a:rPr lang="zh-CN" altLang="en-US"/>
              <a:t>未处理的异常</a:t>
            </a:r>
          </a:p>
          <a:p>
            <a:r>
              <a:rPr lang="en-US" altLang="zh-CN"/>
              <a:t>    public void exceptionHandling() {</a:t>
            </a:r>
          </a:p>
          <a:p>
            <a:r>
              <a:rPr lang="en-US" altLang="zh-CN"/>
              <a:t>        try {</a:t>
            </a:r>
          </a:p>
          <a:p>
            <a:r>
              <a:rPr lang="en-US" altLang="zh-CN"/>
              <a:t>            File file = new File("nonexistent.txt");</a:t>
            </a:r>
          </a:p>
          <a:p>
            <a:r>
              <a:rPr lang="en-US" altLang="zh-CN"/>
              <a:t>            FileReader fr = new FileReader(file);</a:t>
            </a:r>
          </a:p>
          <a:p>
            <a:r>
              <a:rPr lang="en-US" altLang="zh-CN"/>
              <a:t>        } </a:t>
            </a:r>
            <a:r>
              <a:rPr lang="en-US" altLang="zh-CN">
                <a:solidFill>
                  <a:srgbClr val="FF0000"/>
                </a:solidFill>
              </a:rPr>
              <a:t>catch(Exception e) {</a:t>
            </a:r>
          </a:p>
          <a:p>
            <a:r>
              <a:rPr lang="en-US" altLang="zh-CN">
                <a:solidFill>
                  <a:srgbClr val="FF0000"/>
                </a:solidFill>
              </a:rPr>
              <a:t>            // </a:t>
            </a:r>
            <a:r>
              <a:rPr lang="zh-CN" altLang="en-US">
                <a:solidFill>
                  <a:srgbClr val="FF0000"/>
                </a:solidFill>
              </a:rPr>
              <a:t>空</a:t>
            </a:r>
            <a:r>
              <a:rPr lang="en-US" altLang="zh-CN">
                <a:solidFill>
                  <a:srgbClr val="FF0000"/>
                </a:solidFill>
              </a:rPr>
              <a:t>catch</a:t>
            </a:r>
            <a:r>
              <a:rPr lang="zh-CN" altLang="en-US">
                <a:solidFill>
                  <a:srgbClr val="FF0000"/>
                </a:solidFill>
              </a:rPr>
              <a:t>块</a:t>
            </a:r>
          </a:p>
          <a:p>
            <a:r>
              <a:rPr lang="en-US" altLang="zh-CN">
                <a:solidFill>
                  <a:srgbClr val="FF0000"/>
                </a:solidFill>
              </a:rPr>
              <a:t>        }</a:t>
            </a:r>
          </a:p>
          <a:p>
            <a:r>
              <a:rPr lang="en-US" altLang="zh-CN"/>
              <a:t>    }</a:t>
            </a:r>
          </a:p>
          <a:p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346190" y="2911475"/>
            <a:ext cx="491363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未检测出</a:t>
            </a:r>
            <a:r>
              <a:rPr lang="zh-CN"/>
              <a:t>复杂条件</a:t>
            </a:r>
            <a:r>
              <a:rPr lang="zh-CN" altLang="en-US"/>
              <a:t>的问题</a:t>
            </a:r>
            <a:r>
              <a:rPr lang="en-US" altLang="zh-CN"/>
              <a:t>(</a:t>
            </a:r>
            <a:r>
              <a:rPr lang="zh-CN" altLang="en-US"/>
              <a:t>问题代码如下</a:t>
            </a:r>
            <a:r>
              <a:rPr lang="en-US" altLang="zh-CN"/>
              <a:t>)</a:t>
            </a:r>
            <a:r>
              <a:rPr lang="zh-CN" altLang="en-US"/>
              <a:t>：</a:t>
            </a:r>
          </a:p>
          <a:p>
            <a:r>
              <a:rPr lang="en-US" altLang="zh-CN"/>
              <a:t>// Bug</a:t>
            </a:r>
            <a:r>
              <a:rPr lang="zh-CN" altLang="en-US"/>
              <a:t>类型</a:t>
            </a:r>
            <a:r>
              <a:rPr lang="en-US" altLang="zh-CN"/>
              <a:t>12: </a:t>
            </a:r>
            <a:r>
              <a:rPr lang="zh-CN" altLang="en-US"/>
              <a:t>复杂条件</a:t>
            </a:r>
          </a:p>
          <a:p>
            <a:r>
              <a:rPr lang="en-US" altLang="zh-CN"/>
              <a:t>    public boolean complexCondition(int a, int b, int c, int d, int e) {</a:t>
            </a:r>
          </a:p>
          <a:p>
            <a:r>
              <a:rPr lang="en-US" altLang="zh-CN"/>
              <a:t>        return</a:t>
            </a:r>
            <a:r>
              <a:rPr lang="en-US" altLang="zh-CN">
                <a:solidFill>
                  <a:srgbClr val="FF0000"/>
                </a:solidFill>
              </a:rPr>
              <a:t> (a &gt; b &amp;&amp; b &gt; c) || (c &gt; d &amp;&amp; d &gt; e) || (a &gt; c &amp;&amp; b &gt; d) || (b &gt; e &amp;&amp; c &gt; a);</a:t>
            </a:r>
          </a:p>
          <a:p>
            <a:r>
              <a:rPr lang="en-US" altLang="zh-CN"/>
              <a:t>    }</a:t>
            </a:r>
          </a:p>
          <a:p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614045" y="4217035"/>
            <a:ext cx="491363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未检测出</a:t>
            </a:r>
            <a:r>
              <a:rPr lang="zh-CN"/>
              <a:t>魔法数字</a:t>
            </a:r>
            <a:r>
              <a:rPr lang="zh-CN" altLang="en-US"/>
              <a:t>的问题</a:t>
            </a:r>
            <a:r>
              <a:rPr lang="en-US" altLang="zh-CN"/>
              <a:t>(</a:t>
            </a:r>
            <a:r>
              <a:rPr lang="zh-CN" altLang="en-US"/>
              <a:t>问题代码如下</a:t>
            </a:r>
            <a:r>
              <a:rPr lang="en-US" altLang="zh-CN"/>
              <a:t>)</a:t>
            </a:r>
            <a:r>
              <a:rPr lang="zh-CN" altLang="en-US"/>
              <a:t>：</a:t>
            </a:r>
          </a:p>
          <a:p>
            <a:r>
              <a:rPr lang="en-US" altLang="zh-CN"/>
              <a:t>// Bug</a:t>
            </a:r>
            <a:r>
              <a:rPr lang="zh-CN" altLang="en-US"/>
              <a:t>类型</a:t>
            </a:r>
            <a:r>
              <a:rPr lang="en-US" altLang="zh-CN"/>
              <a:t>13: </a:t>
            </a:r>
            <a:r>
              <a:rPr lang="zh-CN" altLang="en-US"/>
              <a:t>魔法数字</a:t>
            </a:r>
          </a:p>
          <a:p>
            <a:r>
              <a:rPr lang="en-US" altLang="zh-CN"/>
              <a:t>    public double calculateArea(int radius) {</a:t>
            </a:r>
          </a:p>
          <a:p>
            <a:r>
              <a:rPr lang="en-US" altLang="zh-CN"/>
              <a:t>        return </a:t>
            </a:r>
            <a:r>
              <a:rPr lang="en-US" altLang="zh-CN">
                <a:solidFill>
                  <a:srgbClr val="FF0000"/>
                </a:solidFill>
              </a:rPr>
              <a:t>3.14159</a:t>
            </a:r>
            <a:r>
              <a:rPr lang="en-US" altLang="zh-CN"/>
              <a:t> * radius * radius;</a:t>
            </a:r>
          </a:p>
          <a:p>
            <a:r>
              <a:rPr lang="en-US" altLang="zh-CN"/>
              <a:t>    }</a:t>
            </a:r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5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59"/>
  <p:tag name="KSO_WM_SPECIAL_SOURCE" val="bdnull"/>
  <p:tag name="KSO_WM_TEMPLATE_THUMBS_INDEX" val="1、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UNIT_CONTENT_GROUP_TYPE" val="contentchip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UNIT_CONTENT_GROUP_TYPE" val="contentchip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汇报人：稻小壳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SUBTYPE" val="b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UNIT_CONTENT_GROUP_TYPE" val="contentchip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CONTENT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PART-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  <p:tag name="KSO_WM_UNIT_CONTENT_GROUP_TYPE" val="contentchip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PRESET_TEXT" val="单击此处添加标题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PRESET_TEXT" val="单击此处添加标题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副标题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  <p:tag name="KSO_WM_UNIT_CONTENT_GROUP_TYPE" val="contentchip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汇报人：稻小壳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SUBTYPE" val="b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UNIT_CONTENT_GROUP_TYPE" val="contentchip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5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59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59"/>
  <p:tag name="KSO_WM_SPECIAL_SOURCE" val="bdnull"/>
  <p:tag name="KSO_WM_TEMPLATE_THUMBS_INDEX" val="1、9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UNIT_CONTENT_GROUP_TYPE" val="contentchip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UNIT_CONTENT_GROUP_TYPE" val="contentchip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汇报人：稻小壳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SUBTYPE" val="b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UNIT_CONTENT_GROUP_TYPE" val="contentchip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CONTENT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PART-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  <p:tag name="KSO_WM_UNIT_CONTENT_GROUP_TYPE" val="contentchip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PRESET_TEXT" val="单击此处添加标题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PRESET_TEXT" val="单击此处添加标题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副标题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  <p:tag name="KSO_WM_UNIT_CONTENT_GROUP_TYPE" val="contentchip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汇报人：稻小壳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SUBTYPE" val="b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UNIT_CONTENT_GROUP_TYPE" val="contentchip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59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59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59"/>
  <p:tag name="KSO_WM_SPECIAL_SOURCE" val="bdnull"/>
  <p:tag name="KSO_WM_TEMPLATE_THUMBS_INDEX" val="1、9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UNIT_CONTENT_GROUP_TYPE" val="contentchip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UNIT_CONTENT_GROUP_TYPE" val="contentchip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汇报人：稻小壳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SUBTYPE" val="b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UNIT_CONTENT_GROUP_TYPE" val="contentchip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CONTENT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PART-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UNIT_TYPE" val="i"/>
  <p:tag name="KSO_WM_UNIT_INDEX" val="4"/>
  <p:tag name="KSO_WM_UNIT_CONTENT_GROUP_TYPE" val="contentchip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PRESET_TEXT" val="单击此处添加标题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PRESET_TEXT" val="单击此处添加标题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副标题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  <p:tag name="KSO_WM_UNIT_CONTENT_GROUP_TYPE" val="contentchip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汇报人：稻小壳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SUBTYPE" val="b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UNIT_CONTENT_GROUP_TYPE" val="contentchip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5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59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9"/>
  <p:tag name="KSO_WM_SLIDE_CONTENT_AREA" val="{&quot;left&quot;:&quot;115.4&quot;,&quot;top&quot;:&quot;72.4&quot;,&quot;width&quot;:&quot;732.2&quot;,&quot;height&quot;:&quot;358&quot;}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9_1*a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单击添加文档标题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59_1*f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SUBTYPE" val="b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59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0259"/>
  <p:tag name="KSO_WM_SLIDE_TYPE" val="contents"/>
  <p:tag name="KSO_WM_SLIDE_SUBTYPE" val="diag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9_4*a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DIAGRAM_GROUP_CODE" val="l1-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259_4*l_h_i*1_1_1"/>
  <p:tag name="KSO_WM_TEMPLATE_CATEGORY" val="custom"/>
  <p:tag name="KSO_WM_TEMPLATE_INDEX" val="2023025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59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59_4*l_h_f*1_1_1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UNIT_SUBTYPE" val="a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目录标题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59_4*l_h_i*1_1_2"/>
  <p:tag name="KSO_WM_TEMPLATE_CATEGORY" val="custom"/>
  <p:tag name="KSO_WM_TEMPLATE_INDEX" val="20230259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59_4*l_h_i*1_2_2"/>
  <p:tag name="KSO_WM_TEMPLATE_CATEGORY" val="custom"/>
  <p:tag name="KSO_WM_TEMPLATE_INDEX" val="20230259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59_4*l_h_i*1_3_2"/>
  <p:tag name="KSO_WM_TEMPLATE_CATEGORY" val="custom"/>
  <p:tag name="KSO_WM_TEMPLATE_INDEX" val="20230259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59_4*l_h_i*1_4_2"/>
  <p:tag name="KSO_WM_TEMPLATE_CATEGORY" val="custom"/>
  <p:tag name="KSO_WM_TEMPLATE_INDEX" val="20230259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259_4*l_h_i*1_2_1"/>
  <p:tag name="KSO_WM_TEMPLATE_CATEGORY" val="custom"/>
  <p:tag name="KSO_WM_TEMPLATE_INDEX" val="2023025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59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59_4*l_h_f*1_2_1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UNIT_SUBTYPE" val="a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目录标题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259_4*l_h_i*1_3_1"/>
  <p:tag name="KSO_WM_TEMPLATE_CATEGORY" val="custom"/>
  <p:tag name="KSO_WM_TEMPLATE_INDEX" val="2023025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59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59_4*l_h_f*1_3_1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UNIT_SUBTYPE" val="a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目录标题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259_4*l_h_i*1_4_1"/>
  <p:tag name="KSO_WM_TEMPLATE_CATEGORY" val="custom"/>
  <p:tag name="KSO_WM_TEMPLATE_INDEX" val="2023025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59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59_4*l_h_f*1_4_1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UNIT_SUBTYPE" val="a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目录标题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259_4*l_h_i*1_4_2"/>
  <p:tag name="KSO_WM_TEMPLATE_CATEGORY" val="custom"/>
  <p:tag name="KSO_WM_TEMPLATE_INDEX" val="20230259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solidLine&quot;:{&quot;brightness&quot;:0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259_4*l_h_i*1_4_1"/>
  <p:tag name="KSO_WM_TEMPLATE_CATEGORY" val="custom"/>
  <p:tag name="KSO_WM_TEMPLATE_INDEX" val="20230259"/>
  <p:tag name="KSO_WM_UNIT_LAYERLEVEL" val="1_1_1"/>
  <p:tag name="KSO_WM_TAG_VERSION" val="3.0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59"/>
  <p:tag name="KSO_WM_UNIT_LAYERLEVEL" val="1_1_1"/>
  <p:tag name="KSO_WM_TAG_VERSION" val="3.0"/>
  <p:tag name="KSO_WM_DIAGRAM_GROUP_CODE" val="l1-1"/>
  <p:tag name="KSO_WM_UNIT_TYPE" val="l_h_f"/>
  <p:tag name="KSO_WM_UNIT_ID" val="custom20230259_4*l_h_f*1_4_1"/>
  <p:tag name="KSO_WM_DIAGRAM_VERSION" val="3"/>
  <p:tag name="KSO_WM_DIAGRAM_MAX_ITEMCNT" val="6"/>
  <p:tag name="KSO_WM_DIAGRAM_MIN_ITEMCNT" val="2"/>
  <p:tag name="KSO_WM_DIAGRAM_VIRTUALLY_FRAME" val="{&quot;height&quot;:279.75000000000006,&quot;left&quot;:16.05,&quot;top&quot;:180.44999999999996,&quot;width&quot;:921}"/>
  <p:tag name="KSO_WM_DIAGRAM_COLOR_TRICK" val="1"/>
  <p:tag name="KSO_WM_DIAGRAM_COLOR_TEXT_CAN_REMOVE" val="n"/>
  <p:tag name="KSO_WM_UNIT_SUBTYPE" val="a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目录标题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5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5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137.35&quot;,&quot;top&quot;:&quot;152.65&quot;,&quot;width&quot;:&quot;731.15&quot;,&quot;height&quot;:&quot;223.6&quot;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59_7*e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contentchip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9_7*a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添加章节标题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76"/>
  <p:tag name="KSO_WM_SLIDE_LAYOUT" val="a_f"/>
  <p:tag name="KSO_WM_SLIDE_LAYOUT_CNT" val="1_1"/>
  <p:tag name="KSO_WM_SLIDE_TYPE" val="text"/>
  <p:tag name="KSO_WM_SLIDE_SUBTYPE" val="pureTxt"/>
  <p:tag name="KSO_WM_SLIDE_SIZE" val="959*427"/>
  <p:tag name="KSO_WM_SLIDE_POSITION" val="0*42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76"/>
  <p:tag name="KSO_WM_SLIDE_LAYOUT" val="a_f"/>
  <p:tag name="KSO_WM_SLIDE_LAYOUT_CNT" val="1_1"/>
  <p:tag name="KSO_WM_SLIDE_TYPE" val="text"/>
  <p:tag name="KSO_WM_SLIDE_SUBTYPE" val="pureTxt"/>
  <p:tag name="KSO_WM_SLIDE_SIZE" val="959*427"/>
  <p:tag name="KSO_WM_SLIDE_POSITION" val="0*42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76"/>
  <p:tag name="KSO_WM_SLIDE_LAYOUT" val="a_f"/>
  <p:tag name="KSO_WM_SLIDE_LAYOUT_CNT" val="1_1"/>
  <p:tag name="KSO_WM_SLIDE_TYPE" val="text"/>
  <p:tag name="KSO_WM_SLIDE_SUBTYPE" val="pureTxt"/>
  <p:tag name="KSO_WM_SLIDE_SIZE" val="959*427"/>
  <p:tag name="KSO_WM_SLIDE_POSITION" val="0*42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3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376"/>
  <p:tag name="KSO_WM_SLIDE_LAYOUT" val="a_f"/>
  <p:tag name="KSO_WM_SLIDE_LAYOUT_CNT" val="1_1"/>
  <p:tag name="KSO_WM_SLIDE_TYPE" val="text"/>
  <p:tag name="KSO_WM_SLIDE_SUBTYPE" val="pureTxt"/>
  <p:tag name="KSO_WM_SLIDE_SIZE" val="959*427"/>
  <p:tag name="KSO_WM_SLIDE_POSITION" val="0*42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4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376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52.1,&quot;top&quot;:139.35,&quot;width&quot;:818.8}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52.1,&quot;top&quot;:139.35,&quot;width&quot;:818.8}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255.8,&quot;left&quot;:52.1,&quot;top&quot;:139.35,&quot;width&quot;:818.8}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255.8,&quot;left&quot;:52.1,&quot;top&quot;:139.35,&quot;width&quot;:818.8}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52.1,&quot;top&quot;:139.35,&quot;width&quot;:818.8}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52.1,&quot;top&quot;:139.35,&quot;width&quot;:818.8}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255.8,&quot;left&quot;:52.1,&quot;top&quot;:139.35,&quot;width&quot;:818.8}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255.8,&quot;left&quot;:52.1,&quot;top&quot;:139.35,&quot;width&quot;:818.8}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52.1,&quot;top&quot;:139.35,&quot;width&quot;:818.8}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52.1,&quot;top&quot;:139.35,&quot;width&quot;:818.8}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255.8,&quot;left&quot;:52.1,&quot;top&quot;:139.35,&quot;width&quot;:818.8}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255.8,&quot;left&quot;:52.1,&quot;top&quot;:139.35,&quot;width&quot;:818.8}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52.1,&quot;top&quot;:139.35,&quot;width&quot;:818.8}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8,&quot;left&quot;:52.1,&quot;top&quot;:139.35,&quot;width&quot;:818.8}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255.8,&quot;left&quot;:52.1,&quot;top&quot;:139.35,&quot;width&quot;:818.8}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255.8,&quot;left&quot;:52.1,&quot;top&quot;:139.35,&quot;width&quot;:818.8}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5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5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137.35&quot;,&quot;top&quot;:&quot;152.65&quot;,&quot;width&quot;:&quot;731.15&quot;,&quot;height&quot;:&quot;223.6&quot;}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59_7*e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contentchip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9_7*a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添加章节标题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4_3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4_2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4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4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f*1_4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SUBTYPE" val="a"/>
  <p:tag name="KSO_WM_UNIT_VALUE" val="32"/>
  <p:tag name="KSO_WM_UNIT_TYPE" val="l_h_f"/>
  <p:tag name="KSO_WM_UNIT_INDEX" val="1_4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文字是您思想的提炼请尽量言简意赅的阐述你的观点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a*1_4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VALUE" val="10"/>
  <p:tag name="KSO_WM_UNIT_TYPE" val="l_h_a"/>
  <p:tag name="KSO_WM_UNIT_INDEX" val="1_4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3_3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3_3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3_2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3_2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3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3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f*1_3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SUBTYPE" val="a"/>
  <p:tag name="KSO_WM_UNIT_VALUE" val="32"/>
  <p:tag name="KSO_WM_UNIT_TYPE" val="l_h_f"/>
  <p:tag name="KSO_WM_UNIT_INDEX" val="1_3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输入你的智能图形项正文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a*1_3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VALUE" val="10"/>
  <p:tag name="KSO_WM_UNIT_TYPE" val="l_h_a"/>
  <p:tag name="KSO_WM_UNIT_INDEX" val="1_3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1_3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1_2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1_2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1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1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f*1_1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SUBTYPE" val="a"/>
  <p:tag name="KSO_WM_UNIT_VALUE" val="32"/>
  <p:tag name="KSO_WM_UNIT_TYPE" val="l_h_f"/>
  <p:tag name="KSO_WM_UNIT_INDEX" val="1_1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输入你的智能图形项正文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24_5*l_h_a*1_1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5_3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5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5_2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5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5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f*1_5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SUBTYPE" val="a"/>
  <p:tag name="KSO_WM_UNIT_VALUE" val="32"/>
  <p:tag name="KSO_WM_UNIT_TYPE" val="l_h_f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输入你的智能图形项正文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a*1_5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VALUE" val="10"/>
  <p:tag name="KSO_WM_UNIT_TYPE" val="l_h_a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2_3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2_3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2_2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2_2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2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2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f*1_2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SUBTYPE" val="a"/>
  <p:tag name="KSO_WM_UNIT_VALUE" val="32"/>
  <p:tag name="KSO_WM_UNIT_TYPE" val="l_h_f"/>
  <p:tag name="KSO_WM_UNIT_INDEX" val="1_2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文字是您思想的提炼请尽量言简意赅的阐述你的观点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a*1_2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VALUE" val="10"/>
  <p:tag name="KSO_WM_UNIT_TYPE" val="l_h_a"/>
  <p:tag name="KSO_WM_UNIT_INDEX" val="1_2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0924_5*l_h_x*1_1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VALUE" val="86*87"/>
  <p:tag name="KSO_WM_UNIT_TYPE" val="l_h_x"/>
  <p:tag name="KSO_WM_UNIT_INDEX" val="1_1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0924_5*l_h_x*1_2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VALUE" val="80*87"/>
  <p:tag name="KSO_WM_UNIT_TYPE" val="l_h_x"/>
  <p:tag name="KSO_WM_UNIT_INDEX" val="1_2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0924_5*l_h_x*1_3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VALUE" val="87*87"/>
  <p:tag name="KSO_WM_UNIT_TYPE" val="l_h_x"/>
  <p:tag name="KSO_WM_UNIT_INDEX" val="1_3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0924_5*l_h_x*1_4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VALUE" val="83*87"/>
  <p:tag name="KSO_WM_UNIT_TYPE" val="l_h_x"/>
  <p:tag name="KSO_WM_UNIT_INDEX" val="1_4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0924_5*l_h_x*1_5_1"/>
  <p:tag name="KSO_WM_TEMPLATE_CATEGORY" val="diagram"/>
  <p:tag name="KSO_WM_TEMPLATE_INDEX" val="20230924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UNIT_VALUE" val="59*87"/>
  <p:tag name="KSO_WM_UNIT_TYPE" val="l_h_x"/>
  <p:tag name="KSO_WM_UNIT_INDEX" val="1_5_1"/>
  <p:tag name="KSO_WM_DIAGRAM_MAX_ITEMCNT" val="6"/>
  <p:tag name="KSO_WM_DIAGRAM_MIN_ITEMCNT" val="2"/>
  <p:tag name="KSO_WM_DIAGRAM_VIRTUALLY_FRAME" val="{&quot;height&quot;:246.85000610351562,&quot;left&quot;:32.691943359375,&quot;top&quot;:184.52499694824218,&quot;width&quot;:894.516113281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5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0259"/>
  <p:tag name="KSO_WM_SLIDE_TYPE" val="text"/>
  <p:tag name="KSO_WM_SLIDE_SUBTYPE" val="pureTxt"/>
  <p:tag name="KSO_WM_SLIDE_SIZE" val="863*444"/>
  <p:tag name="KSO_WM_SLIDE_POSITION" val="47*47"/>
  <p:tag name="KSO_WM_SLIDE_LAYOUT" val="a_f"/>
  <p:tag name="KSO_WM_SLIDE_LAYOUT_CNT" val="1_1"/>
  <p:tag name="KSO_WM_SPECIAL_SOURCE" val="bdnull"/>
  <p:tag name="KSO_WM_SLIDE_LAYOUT_NAME" val="标题和内容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9_8*a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titlestyle"/>
  <p:tag name="KSO_WM_UNIT_TEXT_TYPE" val="1"/>
  <p:tag name="KSO_WM_UNIT_PRESET_TEXT" val="单击此处添加标题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5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5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137.35&quot;,&quot;top&quot;:&quot;152.65&quot;,&quot;width&quot;:&quot;731.15&quot;,&quot;height&quot;:&quot;223.6&quot;}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59_7*e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contentchip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9_7*a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添加章节标题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4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5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5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137.35&quot;,&quot;top&quot;:&quot;152.65&quot;,&quot;width&quot;:&quot;731.15&quot;,&quot;height&quot;:&quot;223.6&quot;}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59_7*e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contentchip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9_7*a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添加章节标题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25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0259"/>
  <p:tag name="KSO_WM_SLIDE_TYPE" val="sectionTitle"/>
  <p:tag name="KSO_WM_SLIDE_SUBTYPE" val="pureTxt"/>
  <p:tag name="KSO_WM_SLIDE_LAYOUT" val="a_e"/>
  <p:tag name="KSO_WM_SLIDE_LAYOUT_CNT" val="1_1"/>
  <p:tag name="KSO_WM_SPECIAL_SOURCE" val="bdnull"/>
  <p:tag name="KSO_WM_SLIDE_CONTENT_AREA" val="{&quot;left&quot;:&quot;137.35&quot;,&quot;top&quot;:&quot;152.65&quot;,&quot;width&quot;:&quot;731.15&quot;,&quot;height&quot;:&quot;223.6&quot;}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59_7*e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contentchip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59_7*a*1"/>
  <p:tag name="KSO_WM_TEMPLATE_CATEGORY" val="custom"/>
  <p:tag name="KSO_WM_TEMPLATE_INDEX" val="20230259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添加章节标题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59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283B19"/>
      </a:dk2>
      <a:lt2>
        <a:srgbClr val="E3EDE4"/>
      </a:lt2>
      <a:accent1>
        <a:srgbClr val="548235"/>
      </a:accent1>
      <a:accent2>
        <a:srgbClr val="507952"/>
      </a:accent2>
      <a:accent3>
        <a:srgbClr val="4C706E"/>
      </a:accent3>
      <a:accent4>
        <a:srgbClr val="48688B"/>
      </a:accent4>
      <a:accent5>
        <a:srgbClr val="445FA7"/>
      </a:accent5>
      <a:accent6>
        <a:srgbClr val="4056C4"/>
      </a:accent6>
      <a:hlink>
        <a:srgbClr val="0563C1"/>
      </a:hlink>
      <a:folHlink>
        <a:srgbClr val="954F72"/>
      </a:folHlink>
    </a:clrScheme>
    <a:fontScheme name="自定义 21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283B19"/>
      </a:dk2>
      <a:lt2>
        <a:srgbClr val="E3EDE4"/>
      </a:lt2>
      <a:accent1>
        <a:srgbClr val="548235"/>
      </a:accent1>
      <a:accent2>
        <a:srgbClr val="507952"/>
      </a:accent2>
      <a:accent3>
        <a:srgbClr val="4C706E"/>
      </a:accent3>
      <a:accent4>
        <a:srgbClr val="48688B"/>
      </a:accent4>
      <a:accent5>
        <a:srgbClr val="445FA7"/>
      </a:accent5>
      <a:accent6>
        <a:srgbClr val="4056C4"/>
      </a:accent6>
      <a:hlink>
        <a:srgbClr val="0563C1"/>
      </a:hlink>
      <a:folHlink>
        <a:srgbClr val="954F72"/>
      </a:folHlink>
    </a:clrScheme>
    <a:fontScheme name="自定义 21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283B19"/>
      </a:dk2>
      <a:lt2>
        <a:srgbClr val="E3EDE4"/>
      </a:lt2>
      <a:accent1>
        <a:srgbClr val="548235"/>
      </a:accent1>
      <a:accent2>
        <a:srgbClr val="507952"/>
      </a:accent2>
      <a:accent3>
        <a:srgbClr val="4C706E"/>
      </a:accent3>
      <a:accent4>
        <a:srgbClr val="48688B"/>
      </a:accent4>
      <a:accent5>
        <a:srgbClr val="445FA7"/>
      </a:accent5>
      <a:accent6>
        <a:srgbClr val="4056C4"/>
      </a:accent6>
      <a:hlink>
        <a:srgbClr val="0563C1"/>
      </a:hlink>
      <a:folHlink>
        <a:srgbClr val="954F72"/>
      </a:folHlink>
    </a:clrScheme>
    <a:fontScheme name="自定义 21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2270</Words>
  <Application>Microsoft Office PowerPoint</Application>
  <PresentationFormat>宽屏</PresentationFormat>
  <Paragraphs>269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MiSans Heavy</vt:lpstr>
      <vt:lpstr>MiSans Normal</vt:lpstr>
      <vt:lpstr>汉仪君黑-45简</vt:lpstr>
      <vt:lpstr>宋体</vt:lpstr>
      <vt:lpstr>微软雅黑</vt:lpstr>
      <vt:lpstr>Arial</vt:lpstr>
      <vt:lpstr>Calibri</vt:lpstr>
      <vt:lpstr>Wingdings</vt:lpstr>
      <vt:lpstr>Office 主题</vt:lpstr>
      <vt:lpstr>1_Office 主题</vt:lpstr>
      <vt:lpstr>2_Office 主题</vt:lpstr>
      <vt:lpstr>SonarQube研究汇报</vt:lpstr>
      <vt:lpstr>CONTENT</vt:lpstr>
      <vt:lpstr>目标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研究目标</vt:lpstr>
      <vt:lpstr>功能与特点</vt:lpstr>
      <vt:lpstr>PowerPoint 演示文稿</vt:lpstr>
      <vt:lpstr>系统架构</vt:lpstr>
      <vt:lpstr>工作过程</vt:lpstr>
      <vt:lpstr>内部机制</vt:lpstr>
      <vt:lpstr>PowerPoint 演示文稿</vt:lpstr>
      <vt:lpstr>使用方法</vt:lpstr>
      <vt:lpstr>使用方法</vt:lpstr>
      <vt:lpstr>实验过程</vt:lpstr>
      <vt:lpstr>实验准备-部署</vt:lpstr>
      <vt:lpstr>实验准备-配置</vt:lpstr>
      <vt:lpstr>执行分析</vt:lpstr>
      <vt:lpstr>实验结果</vt:lpstr>
      <vt:lpstr>结果分析</vt:lpstr>
      <vt:lpstr>安全性分析</vt:lpstr>
      <vt:lpstr>安全性分析</vt:lpstr>
      <vt:lpstr>可靠性分析</vt:lpstr>
      <vt:lpstr>可维护性分析</vt:lpstr>
      <vt:lpstr>其他指标</vt:lpstr>
      <vt:lpstr>构造问题代码检测实验</vt:lpstr>
      <vt:lpstr>构造问题代码检测实验</vt:lpstr>
      <vt:lpstr>安全性分析</vt:lpstr>
      <vt:lpstr>可靠性分析</vt:lpstr>
      <vt:lpstr>可维护性分析</vt:lpstr>
      <vt:lpstr>可维护性分析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Xuanhe Yang</dc:creator>
  <cp:lastModifiedBy>Xuanhe Yang</cp:lastModifiedBy>
  <cp:revision>58</cp:revision>
  <dcterms:created xsi:type="dcterms:W3CDTF">2025-03-04T06:51:00Z</dcterms:created>
  <dcterms:modified xsi:type="dcterms:W3CDTF">2025-05-11T11:47:14Z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/>
  </property>
</Properties>
</file>